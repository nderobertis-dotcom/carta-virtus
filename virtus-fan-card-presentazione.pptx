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8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Relationship Id="rId18" Type="http://schemas.openxmlformats.org/officeDocument/2006/relationships/slide" Target="slides/slide1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237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1565C0">
              <a:alpha val="25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7772400" y="182880"/>
            <a:ext cx="2286000" cy="2286000"/>
          </a:xfrm>
          <a:prstGeom prst="ellipse">
            <a:avLst/>
          </a:prstGeom>
          <a:solidFill>
            <a:srgbClr val="F57C00">
              <a:alpha val="20000"/>
            </a:srgbClr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1565C0">
              <a:alpha val="15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5698"/>
            <a:ext cx="1371600" cy="1371600"/>
          </a:xfrm>
          <a:prstGeom prst="ellipse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03120" y="7315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NUOVA VIRTUS BASKET MOLFETTA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20040" y="1371600"/>
            <a:ext cx="8503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kern="0" spc="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VIRTUS FAN CARD</a:t>
            </a:r>
            <a:endParaRPr lang="en-US" sz="8000" dirty="0"/>
          </a:p>
        </p:txBody>
      </p:sp>
      <p:sp>
        <p:nvSpPr>
          <p:cNvPr id="9" name="Text 6"/>
          <p:cNvSpPr/>
          <p:nvPr/>
        </p:nvSpPr>
        <p:spPr>
          <a:xfrm>
            <a:off x="320040" y="26517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57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Programma Fedeltà Ufficiale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320040" y="3291840"/>
            <a:ext cx="2194560" cy="411480"/>
          </a:xfrm>
          <a:prstGeom prst="roundRect">
            <a:avLst>
              <a:gd name="adj" fmla="val 13333"/>
            </a:avLst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320040" y="32918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Stagione 2026/2027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20040" y="3931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Sostieni la squadra. Accumula punti. Vivi l'esperienza.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 PROGETTO</a:t>
            </a:r>
            <a:endParaRPr lang="en-US" sz="3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91440"/>
            <a:ext cx="914400" cy="914400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Virtus Fan Card è il programma fedeltà della Nuova Virtus Basket Molfetta che unisce i tifosi al territorio.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274320" y="2103120"/>
            <a:ext cx="2743200" cy="2560320"/>
          </a:xfrm>
          <a:prstGeom prst="rect">
            <a:avLst/>
          </a:prstGeom>
          <a:solidFill>
            <a:srgbClr val="F8FAFF"/>
          </a:solidFill>
          <a:ln w="12700">
            <a:solidFill>
              <a:srgbClr val="DDE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Shape 4"/>
          <p:cNvSpPr/>
          <p:nvPr/>
        </p:nvSpPr>
        <p:spPr>
          <a:xfrm>
            <a:off x="274320" y="2103120"/>
            <a:ext cx="2743200" cy="7315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411480" y="2286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7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FIDELIZZAZIONE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274320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 un legame duraturo tra i tifosi e la società sportiva attraverso un programma di rewards strutturato.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2103120"/>
            <a:ext cx="2743200" cy="2560320"/>
          </a:xfrm>
          <a:prstGeom prst="rect">
            <a:avLst/>
          </a:prstGeom>
          <a:solidFill>
            <a:srgbClr val="F8FAFF"/>
          </a:solidFill>
          <a:ln w="12700">
            <a:solidFill>
              <a:srgbClr val="DDE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3200400" y="2103120"/>
            <a:ext cx="27432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3337560" y="2286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TERRITORIO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337560" y="274320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Coinvolge le attività commerciali locali di Molfetta come partner del programma, valorizzando l'economia locale.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26480" y="2103120"/>
            <a:ext cx="2743200" cy="2560320"/>
          </a:xfrm>
          <a:prstGeom prst="rect">
            <a:avLst/>
          </a:prstGeom>
          <a:solidFill>
            <a:srgbClr val="F8FAFF"/>
          </a:solidFill>
          <a:ln w="12700">
            <a:solidFill>
              <a:srgbClr val="DDE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Shape 12"/>
          <p:cNvSpPr/>
          <p:nvPr/>
        </p:nvSpPr>
        <p:spPr>
          <a:xfrm>
            <a:off x="6126480" y="2103120"/>
            <a:ext cx="2743200" cy="73152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6263640" y="2286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8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COMUNITÀ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263640" y="274320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Rafforza il senso di appartenenza alla famiglia Virtus offrendo esperienze e benefit esclusivi ai sostenitori.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COME FUNZIONA</a:t>
            </a:r>
            <a:endParaRPr lang="en-US" sz="3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91440"/>
            <a:ext cx="914400" cy="914400"/>
          </a:xfrm>
          <a:prstGeom prst="ellipse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148840" y="2148840"/>
            <a:ext cx="320040" cy="54864"/>
          </a:xfrm>
          <a:prstGeom prst="rect">
            <a:avLst/>
          </a:prstGeom>
          <a:solidFill>
            <a:srgbClr val="546E7A">
              <a:alpha val="50000"/>
            </a:srgbClr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3"/>
          <p:cNvSpPr/>
          <p:nvPr/>
        </p:nvSpPr>
        <p:spPr>
          <a:xfrm>
            <a:off x="274320" y="1280160"/>
            <a:ext cx="19202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Shape 4"/>
          <p:cNvSpPr/>
          <p:nvPr/>
        </p:nvSpPr>
        <p:spPr>
          <a:xfrm>
            <a:off x="914400" y="1417320"/>
            <a:ext cx="640080" cy="64008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91440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65760" y="2194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7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REGISTRATI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65760" y="265176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 tifoso si iscrive online su www.virtusfanmolfetta.com, sceglie il piano Supporter e completa il pagamento.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25112" y="2148840"/>
            <a:ext cx="320040" cy="54864"/>
          </a:xfrm>
          <a:prstGeom prst="rect">
            <a:avLst/>
          </a:prstGeom>
          <a:solidFill>
            <a:srgbClr val="546E7A">
              <a:alpha val="50000"/>
            </a:srgbClr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9"/>
          <p:cNvSpPr/>
          <p:nvPr/>
        </p:nvSpPr>
        <p:spPr>
          <a:xfrm>
            <a:off x="2450592" y="1280160"/>
            <a:ext cx="19202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Shape 10"/>
          <p:cNvSpPr/>
          <p:nvPr/>
        </p:nvSpPr>
        <p:spPr>
          <a:xfrm>
            <a:off x="3090672" y="1417320"/>
            <a:ext cx="640080" cy="6400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3090672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542032" y="2194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ACQUISTA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542032" y="265176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Mostra il QR code personale nei negozi partner. Il partner registra l'acquisto e accredita i punti.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501384" y="2148840"/>
            <a:ext cx="320040" cy="54864"/>
          </a:xfrm>
          <a:prstGeom prst="rect">
            <a:avLst/>
          </a:prstGeom>
          <a:solidFill>
            <a:srgbClr val="546E7A">
              <a:alpha val="50000"/>
            </a:srgbClr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Shape 15"/>
          <p:cNvSpPr/>
          <p:nvPr/>
        </p:nvSpPr>
        <p:spPr>
          <a:xfrm>
            <a:off x="4626864" y="1280160"/>
            <a:ext cx="19202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Shape 16"/>
          <p:cNvSpPr/>
          <p:nvPr/>
        </p:nvSpPr>
        <p:spPr>
          <a:xfrm>
            <a:off x="5266944" y="1417320"/>
            <a:ext cx="640080" cy="640080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7"/>
          <p:cNvSpPr/>
          <p:nvPr/>
        </p:nvSpPr>
        <p:spPr>
          <a:xfrm>
            <a:off x="5266944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4718304" y="2194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8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ACCUMULA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718304" y="265176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Punti per acquisti, partite casalinghe e campagne promozionali speciali lanciate dai partner.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803136" y="1280160"/>
            <a:ext cx="19202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Shape 21"/>
          <p:cNvSpPr/>
          <p:nvPr/>
        </p:nvSpPr>
        <p:spPr>
          <a:xfrm>
            <a:off x="7443216" y="1417320"/>
            <a:ext cx="640080" cy="64008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2"/>
          <p:cNvSpPr/>
          <p:nvPr/>
        </p:nvSpPr>
        <p:spPr>
          <a:xfrm>
            <a:off x="7443216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6894576" y="2194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A1B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RISCATTA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894576" y="265176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Usa i punti accumulati per ottenere sconti, prodotti e esperienze esclusive Virtus.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 PIANI SUPPORTER</a:t>
            </a:r>
            <a:endParaRPr lang="en-US" sz="3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91440"/>
            <a:ext cx="914400" cy="914400"/>
          </a:xfrm>
          <a:prstGeom prst="ellipse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1234440"/>
            <a:ext cx="2651760" cy="3749040"/>
          </a:xfrm>
          <a:prstGeom prst="rect">
            <a:avLst/>
          </a:prstGeom>
          <a:solidFill>
            <a:srgbClr val="F8FAFF"/>
          </a:solidFill>
          <a:ln w="12700">
            <a:solidFill>
              <a:srgbClr val="DDE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3"/>
          <p:cNvSpPr/>
          <p:nvPr/>
        </p:nvSpPr>
        <p:spPr>
          <a:xfrm>
            <a:off x="274320" y="1234440"/>
            <a:ext cx="2651760" cy="914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365760" y="1371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65760" y="17830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€ 30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365760" y="23591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/anno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65760" y="2651760"/>
            <a:ext cx="1097280" cy="292608"/>
          </a:xfrm>
          <a:prstGeom prst="roundRect">
            <a:avLst>
              <a:gd name="adj" fmla="val 15625"/>
            </a:avLst>
          </a:prstGeom>
          <a:solidFill>
            <a:srgbClr val="1565C0">
              <a:alpha val="15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365760" y="26517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⭐ 30 pt benvenuto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65760" y="306324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Cappellino Virtus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QR code personale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Accesso gare con ingresso riservato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+3 punti per ogni gara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 punti benvenuto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182112" y="1234440"/>
            <a:ext cx="2651760" cy="3749040"/>
          </a:xfrm>
          <a:prstGeom prst="rect">
            <a:avLst/>
          </a:prstGeom>
          <a:solidFill>
            <a:srgbClr val="F8FAFF"/>
          </a:solidFill>
          <a:ln w="12700">
            <a:solidFill>
              <a:srgbClr val="DDE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11"/>
          <p:cNvSpPr/>
          <p:nvPr/>
        </p:nvSpPr>
        <p:spPr>
          <a:xfrm>
            <a:off x="3182112" y="1234440"/>
            <a:ext cx="2651760" cy="9144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/>
          <p:nvPr/>
        </p:nvSpPr>
        <p:spPr>
          <a:xfrm>
            <a:off x="3273552" y="1371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7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273552" y="17830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€ 50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3273552" y="23591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/anno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73552" y="2651760"/>
            <a:ext cx="1097280" cy="292608"/>
          </a:xfrm>
          <a:prstGeom prst="roundRect">
            <a:avLst>
              <a:gd name="adj" fmla="val 15625"/>
            </a:avLst>
          </a:prstGeom>
          <a:solidFill>
            <a:srgbClr val="F57C00">
              <a:alpha val="15000"/>
            </a:srgbClr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6"/>
          <p:cNvSpPr/>
          <p:nvPr/>
        </p:nvSpPr>
        <p:spPr>
          <a:xfrm>
            <a:off x="3273552" y="26517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7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⭐ 50 pt benvenuto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273552" y="306324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Maglia di gara personalizzata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Taglia, cognome e numero a scelta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Posto riservato per tutta la stagione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+5 punti per ogni gara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 punti benvenuto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089904" y="1234440"/>
            <a:ext cx="2651760" cy="3749040"/>
          </a:xfrm>
          <a:prstGeom prst="rect">
            <a:avLst/>
          </a:prstGeom>
          <a:solidFill>
            <a:srgbClr val="F8FAFF"/>
          </a:solidFill>
          <a:ln w="12700">
            <a:solidFill>
              <a:srgbClr val="DDE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Shape 19"/>
          <p:cNvSpPr/>
          <p:nvPr/>
        </p:nvSpPr>
        <p:spPr>
          <a:xfrm>
            <a:off x="6089904" y="1234440"/>
            <a:ext cx="2651760" cy="914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0"/>
          <p:cNvSpPr/>
          <p:nvPr/>
        </p:nvSpPr>
        <p:spPr>
          <a:xfrm>
            <a:off x="6181344" y="1371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A1B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PREMIUM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181344" y="17830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€ 100</a:t>
            </a:r>
            <a:endParaRPr lang="en-US" sz="3000" dirty="0"/>
          </a:p>
        </p:txBody>
      </p:sp>
      <p:sp>
        <p:nvSpPr>
          <p:cNvPr id="25" name="Text 22"/>
          <p:cNvSpPr/>
          <p:nvPr/>
        </p:nvSpPr>
        <p:spPr>
          <a:xfrm>
            <a:off x="6181344" y="23591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/anno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181344" y="2651760"/>
            <a:ext cx="1097280" cy="292608"/>
          </a:xfrm>
          <a:prstGeom prst="roundRect">
            <a:avLst>
              <a:gd name="adj" fmla="val 15625"/>
            </a:avLst>
          </a:prstGeom>
          <a:solidFill>
            <a:srgbClr val="6A1B9A">
              <a:alpha val="15000"/>
            </a:srgbClr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4"/>
          <p:cNvSpPr/>
          <p:nvPr/>
        </p:nvSpPr>
        <p:spPr>
          <a:xfrm>
            <a:off x="6181344" y="26517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A1B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⭐ 100 pt benvenuto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181344" y="306324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Cappellino + Maglia personalizzata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Accesso area hospitality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Posto riservato per tutta la stagione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+10 punti per ogni gara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 punti benvenuto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Tutti i piani sono annuali e si rinnovano ogni stagione sportiva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 SISTEMA PUNTI</a:t>
            </a:r>
            <a:endParaRPr lang="en-US" sz="3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91440"/>
            <a:ext cx="914400" cy="914400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280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COME SI ACCUMULANO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65760" y="1828800"/>
            <a:ext cx="256032" cy="25603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713232" y="1783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Acquisti dai partner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13232" y="1965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punto ogni €1 speso (base)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65760" y="2331720"/>
            <a:ext cx="256032" cy="25603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713232" y="2286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Gara Base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13232" y="2468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+3 punti per ogni gara casalinga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65760" y="2834640"/>
            <a:ext cx="256032" cy="25603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713232" y="2788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Gara Pro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13232" y="2971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+5 punti per ogni gara casalinga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65760" y="3337560"/>
            <a:ext cx="256032" cy="25603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713232" y="3291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Gara Premium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13232" y="3474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+10 punti per ogni gara casalinga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65760" y="3840480"/>
            <a:ext cx="256032" cy="25603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6"/>
          <p:cNvSpPr/>
          <p:nvPr/>
        </p:nvSpPr>
        <p:spPr>
          <a:xfrm>
            <a:off x="713232" y="3794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Campagne promozionali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13232" y="3977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Moltiplicatore 2x, 3x durante eventi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65760" y="4343400"/>
            <a:ext cx="256032" cy="25603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19"/>
          <p:cNvSpPr/>
          <p:nvPr/>
        </p:nvSpPr>
        <p:spPr>
          <a:xfrm>
            <a:off x="713232" y="4297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Bonus benvenuto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13232" y="4480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 / 50 / 100 pt all'iscrizione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663440" y="1188720"/>
            <a:ext cx="42062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5" name="Text 22"/>
          <p:cNvSpPr/>
          <p:nvPr/>
        </p:nvSpPr>
        <p:spPr>
          <a:xfrm>
            <a:off x="484632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7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COME SI RISCATTANO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846320" y="1819656"/>
            <a:ext cx="274320" cy="27432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4"/>
          <p:cNvSpPr/>
          <p:nvPr/>
        </p:nvSpPr>
        <p:spPr>
          <a:xfrm>
            <a:off x="4846320" y="18196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230368" y="1783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 tifoso sfoglia il catalogo premi nell'area personale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846320" y="2368296"/>
            <a:ext cx="274320" cy="27432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7"/>
          <p:cNvSpPr/>
          <p:nvPr/>
        </p:nvSpPr>
        <p:spPr>
          <a:xfrm>
            <a:off x="4846320" y="2368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230368" y="23317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Sceglie il premio e usa i punti accumulati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846320" y="2916936"/>
            <a:ext cx="274320" cy="27432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0"/>
          <p:cNvSpPr/>
          <p:nvPr/>
        </p:nvSpPr>
        <p:spPr>
          <a:xfrm>
            <a:off x="4846320" y="2916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230368" y="2880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Riceve un coupon digitale con codice univoco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846320" y="3465576"/>
            <a:ext cx="274320" cy="27432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33"/>
          <p:cNvSpPr/>
          <p:nvPr/>
        </p:nvSpPr>
        <p:spPr>
          <a:xfrm>
            <a:off x="4846320" y="34655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5230368" y="3429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Mostra il coupon al partner per ottenere il premio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4846320" y="4014216"/>
            <a:ext cx="274320" cy="27432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36"/>
          <p:cNvSpPr/>
          <p:nvPr/>
        </p:nvSpPr>
        <p:spPr>
          <a:xfrm>
            <a:off x="4846320" y="40142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5230368" y="3977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 partner valida il codice — transazione completata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 PARTNER COMMERCIALI</a:t>
            </a:r>
            <a:endParaRPr lang="en-US" sz="3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91440"/>
            <a:ext cx="914400" cy="914400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234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attività commerciali di Molfetta e dintorni che aderiscono al programma generano traffico qualificato e fidelizzano i clienti.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65760" y="1920240"/>
            <a:ext cx="2651760" cy="1097280"/>
          </a:xfrm>
          <a:prstGeom prst="rect">
            <a:avLst/>
          </a:prstGeom>
          <a:solidFill>
            <a:srgbClr val="F8FAFF"/>
          </a:solidFill>
          <a:ln w="12700">
            <a:solidFill>
              <a:srgbClr val="DDE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50292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🍽️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97280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Ristorazione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7280" y="2423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Bar, ristoranti, pizzerie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46120" y="1920240"/>
            <a:ext cx="2651760" cy="1097280"/>
          </a:xfrm>
          <a:prstGeom prst="rect">
            <a:avLst/>
          </a:prstGeom>
          <a:solidFill>
            <a:srgbClr val="F8FAFF"/>
          </a:solidFill>
          <a:ln w="12700">
            <a:solidFill>
              <a:srgbClr val="DDE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338328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👕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3977640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Abbigliamento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977640" y="2423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Negozi moda e abbigliamento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126480" y="1920240"/>
            <a:ext cx="2651760" cy="1097280"/>
          </a:xfrm>
          <a:prstGeom prst="rect">
            <a:avLst/>
          </a:prstGeom>
          <a:solidFill>
            <a:srgbClr val="F8FAFF"/>
          </a:solidFill>
          <a:ln w="12700">
            <a:solidFill>
              <a:srgbClr val="DDE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/>
          <p:nvPr/>
        </p:nvSpPr>
        <p:spPr>
          <a:xfrm>
            <a:off x="626364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💪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858000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Sport &amp; Benessere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858000" y="2423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Palestre, centri sportivi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65760" y="3291840"/>
            <a:ext cx="2651760" cy="1097280"/>
          </a:xfrm>
          <a:prstGeom prst="rect">
            <a:avLst/>
          </a:prstGeom>
          <a:solidFill>
            <a:srgbClr val="F8FAFF"/>
          </a:solidFill>
          <a:ln w="12700">
            <a:solidFill>
              <a:srgbClr val="DDE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Text 16"/>
          <p:cNvSpPr/>
          <p:nvPr/>
        </p:nvSpPr>
        <p:spPr>
          <a:xfrm>
            <a:off x="50292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🏥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1097280" y="3429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Salute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097280" y="3794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Farmacie, studi medici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246120" y="3291840"/>
            <a:ext cx="2651760" cy="1097280"/>
          </a:xfrm>
          <a:prstGeom prst="rect">
            <a:avLst/>
          </a:prstGeom>
          <a:solidFill>
            <a:srgbClr val="F8FAFF"/>
          </a:solidFill>
          <a:ln w="12700">
            <a:solidFill>
              <a:srgbClr val="DDE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3" name="Text 20"/>
          <p:cNvSpPr/>
          <p:nvPr/>
        </p:nvSpPr>
        <p:spPr>
          <a:xfrm>
            <a:off x="338328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🎭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3977640" y="3429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Intrattenimento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977640" y="3794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Cinema, eventi, cultura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126480" y="3291840"/>
            <a:ext cx="2651760" cy="1097280"/>
          </a:xfrm>
          <a:prstGeom prst="rect">
            <a:avLst/>
          </a:prstGeom>
          <a:solidFill>
            <a:srgbClr val="F8FAFF"/>
          </a:solidFill>
          <a:ln w="12700">
            <a:solidFill>
              <a:srgbClr val="DDE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7" name="Text 24"/>
          <p:cNvSpPr/>
          <p:nvPr/>
        </p:nvSpPr>
        <p:spPr>
          <a:xfrm>
            <a:off x="626364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6858000" y="3429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Servizi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858000" y="3794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Professionisti e servizi locali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Aumento del traffico in negozio   ✓ Strumento di marketing territoriale   ✓ Dashboard con report transazioni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PIATTAFORMA DIGITALE</a:t>
            </a:r>
            <a:endParaRPr lang="en-US" sz="3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91440"/>
            <a:ext cx="914400" cy="914400"/>
          </a:xfrm>
          <a:prstGeom prst="ellipse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280160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3"/>
          <p:cNvSpPr/>
          <p:nvPr/>
        </p:nvSpPr>
        <p:spPr>
          <a:xfrm>
            <a:off x="365760" y="1280160"/>
            <a:ext cx="91440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594360" y="133502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Landing Page Pubblica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4360" y="16459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www.virtusfanmolfetta.com — presentazione del progetto, piani e registrazione online con 3 metodi di pagamento.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2148840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Shape 7"/>
          <p:cNvSpPr/>
          <p:nvPr/>
        </p:nvSpPr>
        <p:spPr>
          <a:xfrm>
            <a:off x="365760" y="2148840"/>
            <a:ext cx="91440" cy="749808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594360" y="220370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7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Area Personale Tifoso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94360" y="251460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con saldo punti, QR code personale, storico transazioni, catalogo premi e coupon attivi.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65760" y="3017520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11"/>
          <p:cNvSpPr/>
          <p:nvPr/>
        </p:nvSpPr>
        <p:spPr>
          <a:xfrm>
            <a:off x="365760" y="3017520"/>
            <a:ext cx="91440" cy="74980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/>
          <p:nvPr/>
        </p:nvSpPr>
        <p:spPr>
          <a:xfrm>
            <a:off x="594360" y="307238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8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Scanner Partner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94360" y="338328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 web per i negozi: scansiona il QR del tifoso, inserisce l'importo, eroga i punti istantaneamente.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65760" y="3886200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Shape 15"/>
          <p:cNvSpPr/>
          <p:nvPr/>
        </p:nvSpPr>
        <p:spPr>
          <a:xfrm>
            <a:off x="365760" y="3886200"/>
            <a:ext cx="91440" cy="74980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6"/>
          <p:cNvSpPr/>
          <p:nvPr/>
        </p:nvSpPr>
        <p:spPr>
          <a:xfrm>
            <a:off x="594360" y="39410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A1B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Pannello Admin Virtus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94360" y="42519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completa per gestire tifosi, partner, campagne, premi, transazioni e report analitici.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TECNOLOGIA &amp; SICUREZZA</a:t>
            </a:r>
            <a:endParaRPr lang="en-US" sz="3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91440"/>
            <a:ext cx="914400" cy="914400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 TECNICO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783080"/>
            <a:ext cx="3931920" cy="438912"/>
          </a:xfrm>
          <a:prstGeom prst="rect">
            <a:avLst/>
          </a:prstGeom>
          <a:solidFill>
            <a:srgbClr val="F8FAFF"/>
          </a:solidFill>
          <a:ln w="1270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594360" y="18196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Supabase (PostgreSQL)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94360" y="200253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Database, autenticazione e API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2286000"/>
            <a:ext cx="3931920" cy="438912"/>
          </a:xfrm>
          <a:prstGeom prst="rect">
            <a:avLst/>
          </a:prstGeom>
          <a:solidFill>
            <a:srgbClr val="F8FAFF"/>
          </a:solidFill>
          <a:ln w="1270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594360" y="232257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Pages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94360" y="25054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Hosting frontend zero costo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2788920"/>
            <a:ext cx="3931920" cy="438912"/>
          </a:xfrm>
          <a:prstGeom prst="rect">
            <a:avLst/>
          </a:prstGeom>
          <a:solidFill>
            <a:srgbClr val="F8FAFF"/>
          </a:solidFill>
          <a:ln w="1270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594360" y="28254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HTML / JavaScript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94360" y="30083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Interfacce web leggere e veloci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57200" y="3291840"/>
            <a:ext cx="3931920" cy="438912"/>
          </a:xfrm>
          <a:prstGeom prst="rect">
            <a:avLst/>
          </a:prstGeom>
          <a:solidFill>
            <a:srgbClr val="F8FAFF"/>
          </a:solidFill>
          <a:ln w="1270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594360" y="33284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Row Level Security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94360" y="35112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Ogni utente vede solo i suoi dati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57200" y="3794760"/>
            <a:ext cx="3931920" cy="438912"/>
          </a:xfrm>
          <a:prstGeom prst="rect">
            <a:avLst/>
          </a:prstGeom>
          <a:solidFill>
            <a:srgbClr val="F8FAFF"/>
          </a:solidFill>
          <a:ln w="1270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6"/>
          <p:cNvSpPr/>
          <p:nvPr/>
        </p:nvSpPr>
        <p:spPr>
          <a:xfrm>
            <a:off x="594360" y="383133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Stripe / PayPal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94360" y="40142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Pagamenti sicuri certificati PCI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57200" y="4297680"/>
            <a:ext cx="3931920" cy="438912"/>
          </a:xfrm>
          <a:prstGeom prst="rect">
            <a:avLst/>
          </a:prstGeom>
          <a:solidFill>
            <a:srgbClr val="F8FAFF"/>
          </a:solidFill>
          <a:ln w="1270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19"/>
          <p:cNvSpPr/>
          <p:nvPr/>
        </p:nvSpPr>
        <p:spPr>
          <a:xfrm>
            <a:off x="594360" y="43342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QR Code univoci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94360" y="451713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Identificazione tifoso nei negozi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663440" y="1188720"/>
            <a:ext cx="4206240" cy="38404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5" name="Text 22"/>
          <p:cNvSpPr/>
          <p:nvPr/>
        </p:nvSpPr>
        <p:spPr>
          <a:xfrm>
            <a:off x="4846320" y="13258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7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GARANZIE DI SICUREZZA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846320" y="1920240"/>
            <a:ext cx="228600" cy="22860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4"/>
          <p:cNvSpPr/>
          <p:nvPr/>
        </p:nvSpPr>
        <p:spPr>
          <a:xfrm>
            <a:off x="5166360" y="187452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Autenticazione sicura JWT con Supabase Auth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846320" y="2423160"/>
            <a:ext cx="228600" cy="22860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6"/>
          <p:cNvSpPr/>
          <p:nvPr/>
        </p:nvSpPr>
        <p:spPr>
          <a:xfrm>
            <a:off x="5166360" y="237744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Dati personali protetti con crittografia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846320" y="2926080"/>
            <a:ext cx="228600" cy="22860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8"/>
          <p:cNvSpPr/>
          <p:nvPr/>
        </p:nvSpPr>
        <p:spPr>
          <a:xfrm>
            <a:off x="5166360" y="288036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Ledger transazioni immutabile (append-only)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846320" y="3429000"/>
            <a:ext cx="228600" cy="22860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0"/>
          <p:cNvSpPr/>
          <p:nvPr/>
        </p:nvSpPr>
        <p:spPr>
          <a:xfrm>
            <a:off x="5166360" y="338328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Operazioni atomiche anti race-condition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846320" y="3931920"/>
            <a:ext cx="228600" cy="22860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2"/>
          <p:cNvSpPr/>
          <p:nvPr/>
        </p:nvSpPr>
        <p:spPr>
          <a:xfrm>
            <a:off x="5166360" y="388620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Conformità GDPR con consenso esplicito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4846320" y="4434840"/>
            <a:ext cx="228600" cy="22860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4"/>
          <p:cNvSpPr/>
          <p:nvPr/>
        </p:nvSpPr>
        <p:spPr>
          <a:xfrm>
            <a:off x="5166360" y="438912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Backup automatici del database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BENEFICI PER LA SOCIETÀ</a:t>
            </a:r>
            <a:endParaRPr lang="en-US" sz="3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91440"/>
            <a:ext cx="914400" cy="914400"/>
          </a:xfrm>
          <a:prstGeom prst="ellipse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" y="1280160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3"/>
          <p:cNvSpPr/>
          <p:nvPr/>
        </p:nvSpPr>
        <p:spPr>
          <a:xfrm>
            <a:off x="320040" y="1280160"/>
            <a:ext cx="1920240" cy="64008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320040" y="13716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7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€ 30-100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320040" y="199339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Entrata media per tifoso iscritto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496312" y="1280160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Shape 7"/>
          <p:cNvSpPr/>
          <p:nvPr/>
        </p:nvSpPr>
        <p:spPr>
          <a:xfrm>
            <a:off x="2496312" y="1280160"/>
            <a:ext cx="192024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2496312" y="13716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2496312" y="199339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Livelli di membership differenziati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672584" y="1280160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11"/>
          <p:cNvSpPr/>
          <p:nvPr/>
        </p:nvSpPr>
        <p:spPr>
          <a:xfrm>
            <a:off x="4672584" y="1280160"/>
            <a:ext cx="1920240" cy="6400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/>
          <p:nvPr/>
        </p:nvSpPr>
        <p:spPr>
          <a:xfrm>
            <a:off x="4672584" y="13716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88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365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672584" y="199339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Giorni di durata del programma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848856" y="1280160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Shape 15"/>
          <p:cNvSpPr/>
          <p:nvPr/>
        </p:nvSpPr>
        <p:spPr>
          <a:xfrm>
            <a:off x="6848856" y="1280160"/>
            <a:ext cx="1920240" cy="6400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6"/>
          <p:cNvSpPr/>
          <p:nvPr/>
        </p:nvSpPr>
        <p:spPr>
          <a:xfrm>
            <a:off x="6848856" y="13716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A1B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∞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6848856" y="199339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Premi riscattabili dai partner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65760" y="28346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BENEFICI STRATEGICI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320040" y="3291840"/>
            <a:ext cx="1920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3" name="Text 20"/>
          <p:cNvSpPr/>
          <p:nvPr/>
        </p:nvSpPr>
        <p:spPr>
          <a:xfrm>
            <a:off x="411480" y="3383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Entrate ricorrenti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11480" y="37033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annuale garantita dall'abbonamento dei supporter, indipendente dai risultati sportivi.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496312" y="3291840"/>
            <a:ext cx="1920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Text 23"/>
          <p:cNvSpPr/>
          <p:nvPr/>
        </p:nvSpPr>
        <p:spPr>
          <a:xfrm>
            <a:off x="2587752" y="3383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7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Brand awareness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2587752" y="37033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Presenza continuativa nel territorio attraverso i partner commerciali durante tutto l'anno.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672584" y="3291840"/>
            <a:ext cx="1920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9" name="Text 26"/>
          <p:cNvSpPr/>
          <p:nvPr/>
        </p:nvSpPr>
        <p:spPr>
          <a:xfrm>
            <a:off x="4764024" y="3383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8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Dati e analisi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764024" y="37033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con dati reali su tifosi, acquisti e preferenze per decisioni strategiche informate.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6848856" y="3291840"/>
            <a:ext cx="1920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2" name="Text 29"/>
          <p:cNvSpPr/>
          <p:nvPr/>
        </p:nvSpPr>
        <p:spPr>
          <a:xfrm>
            <a:off x="6940296" y="3383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A1B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Comunità attiva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940296" y="37033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Tifosi coinvolti e fidelizzati che diventano ambasciatori del club nel territorio.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1565C0">
              <a:alpha val="30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7772400" y="1371600"/>
            <a:ext cx="2286000" cy="2286000"/>
          </a:xfrm>
          <a:prstGeom prst="ellipse">
            <a:avLst/>
          </a:prstGeom>
          <a:solidFill>
            <a:srgbClr val="F57C00">
              <a:alpha val="20000"/>
            </a:srgbClr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57200"/>
            <a:ext cx="1828800" cy="1828800"/>
          </a:xfrm>
          <a:prstGeom prst="ellipse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246888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UNIAMOCI ATTORNO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ALLA VIRTUS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320040" y="388620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progetto per costruire una comunità forte attorno alla Nuova Virtus Basket Molfetta.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0040" y="4526280"/>
            <a:ext cx="2651760" cy="50292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457200" y="45445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57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SITO WEB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57200" y="47548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www.virtusfanmolfetta.com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00400" y="4526280"/>
            <a:ext cx="2651760" cy="50292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3337560" y="45445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STAGIONE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3337560" y="47548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2026/2027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080760" y="4526280"/>
            <a:ext cx="2651760" cy="50292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6217920" y="45445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0288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PIANI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217920" y="47548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€ 30 / € 50 / € 100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olo"/>
          <p:cNvSpPr/>
          <p:nvPr/>
        </p:nvSpPr>
        <p:spPr>
          <a:xfrm>
            <a:off x="304800" y="76200"/>
            <a:ext cx="8534400" cy="5334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it-IT" sz="2200" b="1" dirty="0">
                <a:solidFill>
                  <a:srgbClr val="FFFFFF"/>
                </a:solidFill>
                <a:latin typeface="Arial"/>
              </a:rPr>
              <a:t>LA RICARICA PUNTI — BENEFICI PER LA SOCIETÀ</a:t>
            </a:r>
          </a:p>
        </p:txBody>
      </p:sp>
      <p:sp>
        <p:nvSpPr>
          <p:cNvPr id="4" name="Intro"/>
          <p:cNvSpPr/>
          <p:nvPr/>
        </p:nvSpPr>
        <p:spPr>
          <a:xfrm>
            <a:off x="304800" y="762000"/>
            <a:ext cx="8534400" cy="381600"/>
          </a:xfrm>
          <a:prstGeom prst="rect">
            <a:avLst/>
          </a:prstGeom>
          <a:noFill/>
        </p:spPr>
        <p:txBody>
          <a:bodyPr/>
          <a:lstStyle/>
          <a:p>
            <a:r>
              <a:rPr lang="it-IT" sz="1300" dirty="0">
                <a:solidFill>
                  <a:srgbClr val="334466"/>
                </a:solidFill>
                <a:latin typeface="Arial"/>
              </a:rPr>
              <a:t>Il tifoso ricarica il proprio saldo punti con un contributo volontario. La società incassa direttamente, il tifoso ottiene punti, il partner acquisisce traffico qualificato.</a:t>
            </a:r>
          </a:p>
        </p:txBody>
      </p:sp>
      <p:sp>
        <p:nvSpPr>
          <p:cNvPr id="5" name="Stat1"/>
          <p:cNvSpPr/>
          <p:nvPr/>
        </p:nvSpPr>
        <p:spPr>
          <a:xfrm>
            <a:off x="304800" y="1219200"/>
            <a:ext cx="2667000" cy="16002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txBody>
          <a:bodyPr anchor="ctr" marL="152400" marR="152400"/>
          <a:lstStyle/>
          <a:p>
            <a:pPr algn="ctr"/>
            <a:r>
              <a:rPr lang="it-IT" sz="1000" dirty="0">
                <a:solidFill>
                  <a:srgbClr val="F57C00"/>
                </a:solidFill>
                <a:latin typeface="Arial"/>
              </a:rPr>
              <a:t>ENTRATA DIRETTA</a:t>
            </a:r>
          </a:p>
          <a:p>
            <a:pPr algn="ctr"/>
            <a:r>
              <a:rPr lang="it-IT" sz="3600" b="1" dirty="0">
                <a:solidFill>
                  <a:srgbClr val="FFFFFF"/>
                </a:solidFill>
                <a:latin typeface="Arial"/>
              </a:rPr>
              <a:t>€ 5-15</a:t>
            </a:r>
          </a:p>
          <a:p>
            <a:pPr algn="ctr"/>
            <a:r>
              <a:rPr lang="it-IT" sz="1200" dirty="0">
                <a:solidFill>
                  <a:srgbClr val="C8D8F0"/>
                </a:solidFill>
                <a:latin typeface="Arial"/>
              </a:rPr>
              <a:t>per ricarica</a:t>
            </a:r>
          </a:p>
          <a:p>
            <a:endParaRPr lang="it-IT" dirty="0"/>
          </a:p>
          <a:p>
            <a:pPr algn="ctr"/>
            <a:r>
              <a:rPr lang="it-IT" sz="1100" dirty="0">
                <a:solidFill>
                  <a:srgbClr val="EEF4FF"/>
                </a:solidFill>
                <a:latin typeface="Arial"/>
              </a:rPr>
              <a:t>Nessuna commissione. Il 100% resta alla società.</a:t>
            </a:r>
          </a:p>
        </p:txBody>
      </p:sp>
      <p:sp>
        <p:nvSpPr>
          <p:cNvPr id="6" name="Stat2"/>
          <p:cNvSpPr/>
          <p:nvPr/>
        </p:nvSpPr>
        <p:spPr>
          <a:xfrm>
            <a:off x="3200400" y="1219200"/>
            <a:ext cx="2667000" cy="16002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txBody>
          <a:bodyPr anchor="ctr" marL="152400" marR="152400"/>
          <a:lstStyle/>
          <a:p>
            <a:pPr algn="ctr"/>
            <a:r>
              <a:rPr lang="it-IT" sz="1000" dirty="0">
                <a:solidFill>
                  <a:srgbClr val="FFFFFF"/>
                </a:solidFill>
                <a:latin typeface="Arial"/>
              </a:rPr>
              <a:t>TASSO VARIABILE</a:t>
            </a:r>
          </a:p>
          <a:p>
            <a:pPr algn="ctr"/>
            <a:r>
              <a:rPr lang="it-IT" sz="3600" b="1" dirty="0">
                <a:solidFill>
                  <a:srgbClr val="FFFFFF"/>
                </a:solidFill>
                <a:latin typeface="Arial"/>
              </a:rPr>
              <a:t>pt / €</a:t>
            </a:r>
          </a:p>
          <a:p>
            <a:pPr algn="ctr"/>
            <a:r>
              <a:rPr lang="it-IT" sz="1200" dirty="0">
                <a:solidFill>
                  <a:srgbClr val="FFD0A0"/>
                </a:solidFill>
                <a:latin typeface="Arial"/>
              </a:rPr>
              <a:t>impostabile dall’admin</a:t>
            </a:r>
          </a:p>
          <a:p>
            <a:endParaRPr lang="it-IT" dirty="0"/>
          </a:p>
          <a:p>
            <a:pPr algn="ctr"/>
            <a:r>
              <a:rPr lang="it-IT" sz="1100" dirty="0">
                <a:solidFill>
                  <a:srgbClr val="FFFFFF"/>
                </a:solidFill>
                <a:latin typeface="Arial"/>
              </a:rPr>
              <a:t>Aumentalo in momenti chiave: playoff, apertura stagione, eventi speciali.</a:t>
            </a:r>
          </a:p>
        </p:txBody>
      </p:sp>
      <p:sp>
        <p:nvSpPr>
          <p:cNvPr id="7" name="Stat3"/>
          <p:cNvSpPr/>
          <p:nvPr/>
        </p:nvSpPr>
        <p:spPr>
          <a:xfrm>
            <a:off x="6096000" y="1219200"/>
            <a:ext cx="2743200" cy="1600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="ctr" marL="152400" marR="152400"/>
          <a:lstStyle/>
          <a:p>
            <a:pPr algn="ctr"/>
            <a:r>
              <a:rPr lang="it-IT" sz="1000" dirty="0">
                <a:solidFill>
                  <a:srgbClr val="FFFFFF"/>
                </a:solidFill>
                <a:latin typeface="Arial"/>
              </a:rPr>
              <a:t>TRAFFICO PARTNER</a:t>
            </a:r>
          </a:p>
          <a:p>
            <a:pPr algn="ctr"/>
            <a:r>
              <a:rPr lang="it-IT" sz="3600" b="1" dirty="0">
                <a:solidFill>
                  <a:srgbClr val="FFFFFF"/>
                </a:solidFill>
                <a:latin typeface="Arial"/>
              </a:rPr>
              <a:t>↑</a:t>
            </a:r>
          </a:p>
          <a:p>
            <a:pPr algn="ctr"/>
            <a:r>
              <a:rPr lang="it-IT" sz="1200" dirty="0">
                <a:solidFill>
                  <a:srgbClr val="A5D6A7"/>
                </a:solidFill>
                <a:latin typeface="Arial"/>
              </a:rPr>
              <a:t>pedonabilità garantita</a:t>
            </a:r>
          </a:p>
          <a:p>
            <a:endParaRPr lang="it-IT" dirty="0"/>
          </a:p>
          <a:p>
            <a:pPr algn="ctr"/>
            <a:r>
              <a:rPr lang="it-IT" sz="1100" dirty="0">
                <a:solidFill>
                  <a:srgbClr val="FFFFFF"/>
                </a:solidFill>
                <a:latin typeface="Arial"/>
              </a:rPr>
              <a:t>I punti vengono spesi dai partner locali, generando visite e acquisti.</a:t>
            </a:r>
          </a:p>
        </p:txBody>
      </p:sp>
      <p:sp>
        <p:nvSpPr>
          <p:cNvPr id="8" name="BenLabel"/>
          <p:cNvSpPr/>
          <p:nvPr/>
        </p:nvSpPr>
        <p:spPr>
          <a:xfrm>
            <a:off x="304800" y="2895600"/>
            <a:ext cx="8534400" cy="266700"/>
          </a:xfrm>
          <a:prstGeom prst="rect">
            <a:avLst/>
          </a:prstGeom>
          <a:noFill/>
        </p:spPr>
        <p:txBody>
          <a:bodyPr/>
          <a:lstStyle/>
          <a:p>
            <a:r>
              <a:rPr lang="it-IT" sz="1200" b="1" dirty="0">
                <a:solidFill>
                  <a:srgbClr val="1A3A6B"/>
                </a:solidFill>
                <a:latin typeface="Arial"/>
              </a:rPr>
              <a:t>BENEFICI STRATEGICI PER LA SOCIETÀ</a:t>
            </a:r>
          </a:p>
        </p:txBody>
      </p:sp>
      <p:sp>
        <p:nvSpPr>
          <p:cNvPr id="9" name="Ben1"/>
          <p:cNvSpPr/>
          <p:nvPr/>
        </p:nvSpPr>
        <p:spPr>
          <a:xfrm>
            <a:off x="304800" y="3200400"/>
            <a:ext cx="41910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0"/>
            </a:solidFill>
          </a:ln>
        </p:spPr>
        <p:txBody>
          <a:bodyPr marL="114300" marR="114300" marT="76200" marB="76200"/>
          <a:lstStyle/>
          <a:p>
            <a:r>
              <a:rPr lang="it-IT" sz="1300" b="1" dirty="0">
                <a:solidFill>
                  <a:srgbClr val="E65100"/>
                </a:solidFill>
                <a:latin typeface="Arial"/>
              </a:rPr>
              <a:t>💸 Entrate aggiuntive</a:t>
            </a:r>
          </a:p>
          <a:p>
            <a:r>
              <a:rPr lang="it-IT" sz="1100" dirty="0">
                <a:solidFill>
                  <a:srgbClr val="334466"/>
                </a:solidFill>
                <a:latin typeface="Arial"/>
              </a:rPr>
              <a:t>Ogni ricarica è un contributo volontario diretto, fuori da sponsor e abbonamenti.</a:t>
            </a:r>
          </a:p>
        </p:txBody>
      </p:sp>
      <p:sp>
        <p:nvSpPr>
          <p:cNvPr id="10" name="Ben2"/>
          <p:cNvSpPr/>
          <p:nvPr/>
        </p:nvSpPr>
        <p:spPr>
          <a:xfrm>
            <a:off x="4648200" y="3200400"/>
            <a:ext cx="41910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0"/>
            </a:solidFill>
          </a:ln>
        </p:spPr>
        <p:txBody>
          <a:bodyPr marL="114300" marR="114300" marT="76200" marB="76200"/>
          <a:lstStyle/>
          <a:p>
            <a:r>
              <a:rPr lang="it-IT" sz="1300" b="1" dirty="0">
                <a:solidFill>
                  <a:srgbClr val="E65100"/>
                </a:solidFill>
                <a:latin typeface="Arial"/>
              </a:rPr>
              <a:t>🏳 Leva promozionale</a:t>
            </a:r>
          </a:p>
          <a:p>
            <a:r>
              <a:rPr lang="it-IT" sz="1100" dirty="0">
                <a:solidFill>
                  <a:srgbClr val="334466"/>
                </a:solidFill>
                <a:latin typeface="Arial"/>
              </a:rPr>
              <a:t>Aumenta il tasso pt/€ in momenti chiave: playoff, apertura stagione, eventi speciali.</a:t>
            </a:r>
          </a:p>
        </p:txBody>
      </p:sp>
      <p:sp>
        <p:nvSpPr>
          <p:cNvPr id="11" name="Ben3"/>
          <p:cNvSpPr/>
          <p:nvPr/>
        </p:nvSpPr>
        <p:spPr>
          <a:xfrm>
            <a:off x="304800" y="4038600"/>
            <a:ext cx="41910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0"/>
            </a:solidFill>
          </a:ln>
        </p:spPr>
        <p:txBody>
          <a:bodyPr marL="114300" marR="114300" marT="76200" marB="76200"/>
          <a:lstStyle/>
          <a:p>
            <a:r>
              <a:rPr lang="it-IT" sz="1300" b="1" dirty="0">
                <a:solidFill>
                  <a:srgbClr val="E65100"/>
                </a:solidFill>
                <a:latin typeface="Arial"/>
              </a:rPr>
              <a:t>🤝 Fidelizzazione profonda</a:t>
            </a:r>
          </a:p>
          <a:p>
            <a:r>
              <a:rPr lang="it-IT" sz="1100" dirty="0">
                <a:solidFill>
                  <a:srgbClr val="334466"/>
                </a:solidFill>
                <a:latin typeface="Arial"/>
              </a:rPr>
              <a:t>Chi ricarica è un tifoso attivo: il saldo lo motiva a restare nel circuito.</a:t>
            </a:r>
          </a:p>
        </p:txBody>
      </p:sp>
      <p:sp>
        <p:nvSpPr>
          <p:cNvPr id="12" name="Ben4"/>
          <p:cNvSpPr/>
          <p:nvPr/>
        </p:nvSpPr>
        <p:spPr>
          <a:xfrm>
            <a:off x="4648200" y="4038600"/>
            <a:ext cx="41910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0"/>
            </a:solidFill>
          </a:ln>
        </p:spPr>
        <p:txBody>
          <a:bodyPr marL="114300" marR="114300" marT="76200" marB="76200"/>
          <a:lstStyle/>
          <a:p>
            <a:r>
              <a:rPr lang="it-IT" sz="1300" b="1" dirty="0">
                <a:solidFill>
                  <a:srgbClr val="E65100"/>
                </a:solidFill>
                <a:latin typeface="Arial"/>
              </a:rPr>
              <a:t>🏠 Beneficio per il territorio</a:t>
            </a:r>
          </a:p>
          <a:p>
            <a:r>
              <a:rPr lang="it-IT" sz="1100" dirty="0">
                <a:solidFill>
                  <a:srgbClr val="334466"/>
                </a:solidFill>
                <a:latin typeface="Arial"/>
              </a:rPr>
              <a:t>I punti vengono spesi dai partner locali: ogni ricarica alimenta l’economia di Molfetta.</a:t>
            </a:r>
          </a:p>
        </p:txBody>
      </p:sp>
      <p:sp>
        <p:nvSpPr>
          <p:cNvPr id="13" name="Footer"/>
          <p:cNvSpPr/>
          <p:nvPr/>
        </p:nvSpPr>
        <p:spPr>
          <a:xfrm>
            <a:off x="304800" y="4876800"/>
            <a:ext cx="8534400" cy="2667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it-IT" sz="1000" dirty="0">
                <a:solidFill>
                  <a:srgbClr val="999999"/>
                </a:solidFill>
                <a:latin typeface="Arial"/>
              </a:rPr>
              <a:t>virtusfanmolfetta.com</a:t>
            </a:r>
          </a:p>
        </p:txBody>
      </p:sp>
    </p:spTree>
  </p:cSld>
  <p:clrMapOvr>
    <a:masterClr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779</Words>
  <Application>Microsoft Office PowerPoint</Application>
  <PresentationFormat>Presentazione su schermo (16:9)</PresentationFormat>
  <Paragraphs>168</Paragraphs>
  <Slides>10</Slides>
  <Notes>10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3" baseType="lpstr">
      <vt:lpstr>Arial</vt:lpstr>
      <vt:lpstr>Trebuchet MS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Carta Virtus — Programma Fedeltà</dc:title>
  <dc:subject>PptxGenJS Presentation</dc:subject>
  <dc:creator>Nuova Virtus Basket Molfetta</dc:creator>
  <cp:lastModifiedBy>Nicolò de ROBERTIS</cp:lastModifiedBy>
  <cp:revision>2</cp:revision>
  <dcterms:created xsi:type="dcterms:W3CDTF">2026-06-05T14:28:46Z</dcterms:created>
  <dcterms:modified xsi:type="dcterms:W3CDTF">2026-06-06T15:54:04Z</dcterms:modified>
</cp:coreProperties>
</file>