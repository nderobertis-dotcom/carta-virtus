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8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8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7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914400"/>
            <a:ext cx="3200400" cy="3200400"/>
          </a:xfrm>
          <a:prstGeom prst="ellipse">
            <a:avLst/>
          </a:prstGeom>
          <a:solidFill>
            <a:srgbClr val="F57C00">
              <a:alpha val="25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6858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NUOVA VIRTUS BASKET MOLFETTA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E' UN</a:t>
            </a:r>
            <a:endParaRPr lang="en-US" sz="62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ABBONAMENTO.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6576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E' la tua tessera nella famiglia Virtus.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347472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36576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 — Stagione 2026/2027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160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Punti. Premi. Esperienze. Comunita.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CLASSICO ABBONAMENTO...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conosci bene. Lo hai visto mille volte.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02920" y="189280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0292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19293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Paghi. Entri. Fine. Non ottieni nient'altro.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02920" y="267004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02920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27066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importa quanto sei fedele: ogni anno ricomincia da zero.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02920" y="344728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0292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4838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connessione con la citta e con le attivita locali.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502920" y="422452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02920" y="4224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8992" y="42611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 un numero nel registro soci, non parte di una comunita.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 abbiamo cambiato tutto. Presentando la Virtus Fan Card.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565C0">
              <a:alpha val="2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280160" cy="128016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114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011680" y="1051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tua tessera. La tua identita. Il tuo vantaggio.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645920"/>
            <a:ext cx="8412480" cy="1234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"Non stai solo comprando un biglietto per le partite. Stai entrando a far parte di un ecosistema che ti premia ogni volta che scegli Molfetta."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960120" y="3154680"/>
            <a:ext cx="685800" cy="6858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96012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1148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alle gare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6888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108960" y="3154680"/>
            <a:ext cx="685800" cy="6858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310896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6032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ad ogni acquisto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5257800" y="315468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25780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0916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 esclusivi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7406640" y="3154680"/>
            <a:ext cx="685800" cy="6858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40664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 di partner locali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SCEGLI IL TUO LIVELLO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 livelli di appartenenza. Un'unica grande famiglia.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92608" y="1627632"/>
            <a:ext cx="26974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292608" y="1627632"/>
            <a:ext cx="26974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84048" y="1737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20848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30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26151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/anno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2926080"/>
            <a:ext cx="2514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alle gare casalinghe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Ingresso riservato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Cappellino Virtus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punti benvenuto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punti per ogni gara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572768"/>
            <a:ext cx="2788920" cy="3611880"/>
          </a:xfrm>
          <a:prstGeom prst="rect">
            <a:avLst/>
          </a:prstGeom>
          <a:solidFill>
            <a:srgbClr val="F57C00">
              <a:alpha val="10000"/>
            </a:srgbClr>
          </a:solidFill>
          <a:ln w="25400">
            <a:solidFill>
              <a:srgbClr val="F57C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749040" y="1572768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3749040" y="15727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PIU SCELTO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1627632"/>
            <a:ext cx="26974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3200400" y="1627632"/>
            <a:ext cx="269748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3291840" y="1737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291840" y="20848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50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291840" y="26151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/anno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91840" y="2926080"/>
            <a:ext cx="2514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Tutto il livello 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Maglia di gara personalizzata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Cognome + numero a scelta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Posto riservato stagione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punti per ogni gara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08192" y="1627632"/>
            <a:ext cx="26974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6108192" y="1627632"/>
            <a:ext cx="269748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6199632" y="1737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199632" y="20848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100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199632" y="26151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/anno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99632" y="2926080"/>
            <a:ext cx="2514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Tutto il livello Pro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Cappellino + Maglia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area hospitality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Esperienze VIP esclusive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punti per ogni gara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TUA GIORNATA CON LA FAN CARD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502920" y="1344168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02920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12893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09:00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" y="150876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 dal bar sotto casa, mostri il QR della Fan Card. Prendi il caffe e accumuli 2 punti.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993392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438912" cy="438912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0292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20482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12:00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" y="2267712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pranzo dal ristorante partner di Via Roma. Pranzo e altri 8 punti sul tuo saldo.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752344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02920" y="286207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02920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78992" y="2807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19:30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78992" y="3026664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Arrivi al PalaPoli. Il tuo posto e gia prenotato. Scanner al tornello: accesso immediato.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511296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502920" y="3621024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0292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8992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20:45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8992" y="3785616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Finale gara. Hai accumulato +5 punti solo per essere qui. Totale oggi: 15 punti!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270248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502920" y="4379976"/>
            <a:ext cx="438912" cy="4389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02920" y="4379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78992" y="43251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 mese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78992" y="4544568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 abbastanza punti. Riscatti una cena gratis al ristorante partner. Gratis.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ACCUMULA. RISCATTA. RIPETI.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DOVE ACCUMULI PUNTI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719072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31520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acquisto dai partner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8836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pt ogni EUR 1 speso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315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gara casalinga (Base)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4048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pt a partita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761488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3152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gara casalinga (Pro)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29260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pt a partita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28269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31520" y="31912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gara casalinga (Premium)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4472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 a partita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8039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31520" y="3712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Campagne speciali partner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" y="396849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 a 3x i punti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325112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31520" y="4233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benvenuto all iscrizione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" y="44897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/ 50 / 100 pt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3440" y="1097280"/>
            <a:ext cx="4206240" cy="4023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846320" y="1207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PUOI RISCATTARE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46320" y="1810512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212080" y="17190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Caffe o aperitivo gratis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2331720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521208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Pranzo o cena da un partner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2852928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212080" y="27614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Sconti su abbigliamento e prodotti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46320" y="3374136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5212080" y="32826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ad eventi speciali Virtus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46320" y="3895344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5212080" y="38039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Prodotti ufficiali della squadra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46320" y="4416552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5212080" y="43251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Esperienze VIP (Premium)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FORZA DEL TERRITORIO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la Virtus Fan Card non stai solo supportando la squadra. Stai investendo in Molfetta.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87452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3272" y="20391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 e Ristorazione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32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Colazione, pranzo, aperitivo. Ogni consumazione vale punti.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87452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337560" y="205740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3375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13632" y="20391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Abbigliamento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2532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Negozi moda e sport. Acquisti che diventano premi.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87452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6217920" y="205740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62179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93992" y="20391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e Benessere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2532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Palestre e centri wellness. Il tuo benessere vale doppio.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" y="329184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3327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Servizi Professionali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3950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Medici, studi, artigiani. Anche loro fanno parte della famiglia.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0" y="329184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3337560" y="347472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33375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91363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Intrattenimento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37560" y="3950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Cinema, eventi, cultura. Molfetta viva tutto l anno.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329184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6217920" y="347472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6217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9399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Commercio Locale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17920" y="3950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negozi del centro. Ogni spesa rimane a Molfetta.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TUTTO IN UN QR CODE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34440"/>
            <a:ext cx="3200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2560320" cy="2560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Mario Rossi · Piano PRO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31920" y="123444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069080" y="132588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06908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17720" y="1289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Sempre con 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5361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Accedi all area personale dal browser. Nessuna app da installare.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31920" y="196596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4069080" y="2057400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4069080" y="2057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20208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personale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17720" y="22677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codice univoco che ti identifica in tutti i negozi partner e al PalaPoli.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31920" y="269748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069080" y="2788920"/>
            <a:ext cx="438912" cy="438912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069080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17720" y="27523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Saldo punti in tempo reale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17720" y="29992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Vedi i punti accumularsi dopo ogni acquisto. Istantaneamente.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931920" y="342900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4069080" y="3520440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406908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17720" y="34838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 digitali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17720" y="37307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Riscatti un premio? Ricevi un codice digitale da mostrare al partner.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931920" y="416052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4069080" y="4251960"/>
            <a:ext cx="438912" cy="4389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4069080" y="4251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617720" y="4215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Storico completo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17720" y="4462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Tutte le transazioni, gli ingressi alle gare e i premi riscattati.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PERCHE' VALE LA PENA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0" y="1170432"/>
            <a:ext cx="2743200" cy="41148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20040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ABBONAMENTO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35040" y="1170432"/>
            <a:ext cx="27432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03504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664208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0292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alle gare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664208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2004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664208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0350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con posto riservato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13969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0292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 e vantaggi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2139696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20040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139696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03504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catalogo sempre attivo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615184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02920" y="2688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sugli acquisti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0" y="2615184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320040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2615184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603504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in tutta Molfetta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309067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502920" y="3163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Connessione al territorio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3090672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3200400" y="31638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3090672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6035040" y="31638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rete partner locali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3566160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5029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personale digitale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00400" y="3566160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320040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035040" y="3566160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03504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QR code e saldo live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65760" y="404164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Vantaggi per la citta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200400" y="4041648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035040" y="4041648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60350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economia locale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65760" y="4517136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3"/>
          <p:cNvSpPr/>
          <p:nvPr/>
        </p:nvSpPr>
        <p:spPr>
          <a:xfrm>
            <a:off x="502920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 premia ogni anno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200400" y="4517136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320040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035040" y="4517136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7"/>
          <p:cNvSpPr/>
          <p:nvPr/>
        </p:nvSpPr>
        <p:spPr>
          <a:xfrm>
            <a:off x="603504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i punti si accumulano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565C0">
              <a:alpha val="3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1371600"/>
            <a:ext cx="2743200" cy="2743200"/>
          </a:xfrm>
          <a:prstGeom prst="ellipse">
            <a:avLst/>
          </a:prstGeom>
          <a:solidFill>
            <a:srgbClr val="F57C00">
              <a:alpha val="22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2286000" y="27432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1828800" cy="18288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 PRONTO A</a:t>
            </a:r>
            <a:endParaRPr lang="en-US" sz="4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ENTRARE</a:t>
            </a:r>
            <a:endParaRPr lang="en-US" sz="4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NELLA FAMIGLIA?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6576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 su virtusfanmolfetta.com e scegli il tuo livello.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4709160"/>
            <a:ext cx="269748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365760" y="47091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— EUR 30/anno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4709160"/>
            <a:ext cx="269748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3273552" y="47091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— EUR 50/anno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81344" y="4709160"/>
            <a:ext cx="269748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181344" y="47091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— EUR 100/anno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/>
          <p:nvPr/>
        </p:nvSpPr>
        <p:spPr>
          <a:xfrm>
            <a:off x="304800" y="228600"/>
            <a:ext cx="85344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3200" b="1" dirty="0">
                <a:solidFill>
                  <a:srgbClr val="FFFFFF"/>
                </a:solidFill>
                <a:latin typeface="Arial"/>
              </a:rPr>
              <a:t>HAI ESAURITO I PUNTI?</a:t>
            </a:r>
          </a:p>
          <a:p>
            <a:r>
              <a:rPr lang="it-IT" sz="1800" b="1" dirty="0">
                <a:solidFill>
                  <a:srgbClr val="F57C00"/>
                </a:solidFill>
                <a:latin typeface="Arial"/>
              </a:rPr>
              <a:t>Ricarica il tuo saldo e non perdere nessuna opportunità.</a:t>
            </a:r>
          </a:p>
        </p:txBody>
      </p:sp>
      <p:sp>
        <p:nvSpPr>
          <p:cNvPr id="3" name="ColSxTitle"/>
          <p:cNvSpPr/>
          <p:nvPr/>
        </p:nvSpPr>
        <p:spPr>
          <a:xfrm>
            <a:off x="304800" y="1143000"/>
            <a:ext cx="4191000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1400" b="1" dirty="0">
                <a:solidFill>
                  <a:srgbClr val="F57C00"/>
                </a:solidFill>
                <a:latin typeface="Arial"/>
              </a:rPr>
              <a:t>COME FUNZIONA</a:t>
            </a:r>
          </a:p>
        </p:txBody>
      </p:sp>
      <p:sp>
        <p:nvSpPr>
          <p:cNvPr id="4" name="Step1"/>
          <p:cNvSpPr/>
          <p:nvPr/>
        </p:nvSpPr>
        <p:spPr>
          <a:xfrm>
            <a:off x="304800" y="1524000"/>
            <a:ext cx="4191000" cy="6858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57C00"/>
                </a:solidFill>
                <a:latin typeface="Arial"/>
              </a:rPr>
              <a:t>1   Scegli il pacchetto</a:t>
            </a:r>
          </a:p>
          <a:p>
            <a:r>
              <a:rPr lang="it-IT" sz="1100" dirty="0">
                <a:solidFill>
                  <a:srgbClr val="C8D8F0"/>
                </a:solidFill>
                <a:latin typeface="Arial"/>
              </a:rPr>
              <a:t>50 pt / 100 pt / 200 pt oppure importo libero.</a:t>
            </a:r>
          </a:p>
        </p:txBody>
      </p:sp>
      <p:sp>
        <p:nvSpPr>
          <p:cNvPr id="5" name="Step2"/>
          <p:cNvSpPr/>
          <p:nvPr/>
        </p:nvSpPr>
        <p:spPr>
          <a:xfrm>
            <a:off x="304800" y="2285400"/>
            <a:ext cx="4191000" cy="6858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57C00"/>
                </a:solidFill>
                <a:latin typeface="Arial"/>
              </a:rPr>
              <a:t>2   Invia la richiesta</a:t>
            </a:r>
          </a:p>
          <a:p>
            <a:r>
              <a:rPr lang="it-IT" sz="1100" dirty="0">
                <a:solidFill>
                  <a:srgbClr val="C8D8F0"/>
                </a:solidFill>
                <a:latin typeface="Arial"/>
              </a:rPr>
              <a:t>Dalla tua area personale su virtusfanmolfetta.com.</a:t>
            </a:r>
          </a:p>
        </p:txBody>
      </p:sp>
      <p:sp>
        <p:nvSpPr>
          <p:cNvPr id="6" name="Step3"/>
          <p:cNvSpPr/>
          <p:nvPr/>
        </p:nvSpPr>
        <p:spPr>
          <a:xfrm>
            <a:off x="304800" y="3046800"/>
            <a:ext cx="4191000" cy="6858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57C00"/>
                </a:solidFill>
                <a:latin typeface="Arial"/>
              </a:rPr>
              <a:t>3   Effettua il pagamento</a:t>
            </a:r>
          </a:p>
          <a:p>
            <a:r>
              <a:rPr lang="it-IT" sz="1100" dirty="0">
                <a:solidFill>
                  <a:srgbClr val="C8D8F0"/>
                </a:solidFill>
                <a:latin typeface="Arial"/>
              </a:rPr>
              <a:t>In contanti o POS presso la sede. Online prossimamente.</a:t>
            </a:r>
          </a:p>
        </p:txBody>
      </p:sp>
      <p:sp>
        <p:nvSpPr>
          <p:cNvPr id="7" name="Step4"/>
          <p:cNvSpPr/>
          <p:nvPr/>
        </p:nvSpPr>
        <p:spPr>
          <a:xfrm>
            <a:off x="304800" y="3808200"/>
            <a:ext cx="419100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4   Punti accreditati!</a:t>
            </a:r>
          </a:p>
          <a:p>
            <a:r>
              <a:rPr lang="it-IT" sz="1100" dirty="0">
                <a:solidFill>
                  <a:srgbClr val="A5D6A7"/>
                </a:solidFill>
                <a:latin typeface="Arial"/>
              </a:rPr>
              <a:t>Il saldo è aggiornato e puoi subito riscattare premi.</a:t>
            </a:r>
          </a:p>
        </p:txBody>
      </p:sp>
      <p:sp>
        <p:nvSpPr>
          <p:cNvPr id="8" name="ColDxTitle"/>
          <p:cNvSpPr/>
          <p:nvPr/>
        </p:nvSpPr>
        <p:spPr>
          <a:xfrm>
            <a:off x="4876200" y="1143000"/>
            <a:ext cx="3962400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1400" b="1" dirty="0">
                <a:solidFill>
                  <a:srgbClr val="F57C00"/>
                </a:solidFill>
                <a:latin typeface="Arial"/>
              </a:rPr>
              <a:t>PERCHÉ CONVIENE</a:t>
            </a:r>
          </a:p>
        </p:txBody>
      </p:sp>
      <p:sp>
        <p:nvSpPr>
          <p:cNvPr id="9" name="Ben1"/>
          <p:cNvSpPr/>
          <p:nvPr/>
        </p:nvSpPr>
        <p:spPr>
          <a:xfrm>
            <a:off x="4876200" y="1524000"/>
            <a:ext cx="396240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🎁 Non perdi nessun premio</a:t>
            </a:r>
          </a:p>
          <a:p>
            <a:r>
              <a:rPr lang="it-IT" sz="1100" dirty="0">
                <a:solidFill>
                  <a:srgbClr val="FFD0A0"/>
                </a:solidFill>
                <a:latin typeface="Arial"/>
              </a:rPr>
              <a:t>Se ti mancano pochi punti, ricarichi e riscatti subito.</a:t>
            </a:r>
          </a:p>
        </p:txBody>
      </p:sp>
      <p:sp>
        <p:nvSpPr>
          <p:cNvPr id="10" name="Ben2"/>
          <p:cNvSpPr/>
          <p:nvPr/>
        </p:nvSpPr>
        <p:spPr>
          <a:xfrm>
            <a:off x="4876200" y="2285400"/>
            <a:ext cx="396240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🔥 Approfitta delle promozioni</a:t>
            </a:r>
          </a:p>
          <a:p>
            <a:r>
              <a:rPr lang="it-IT" sz="1100" dirty="0">
                <a:solidFill>
                  <a:srgbClr val="FFD0A0"/>
                </a:solidFill>
                <a:latin typeface="Arial"/>
              </a:rPr>
              <a:t>Quando il tasso pt/€ è aumentato, ogni euro vale di più.</a:t>
            </a:r>
          </a:p>
        </p:txBody>
      </p:sp>
      <p:sp>
        <p:nvSpPr>
          <p:cNvPr id="11" name="Ben3"/>
          <p:cNvSpPr/>
          <p:nvPr/>
        </p:nvSpPr>
        <p:spPr>
          <a:xfrm>
            <a:off x="4876200" y="3046800"/>
            <a:ext cx="396240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✨ Sostieni la squadra</a:t>
            </a:r>
          </a:p>
          <a:p>
            <a:r>
              <a:rPr lang="it-IT" sz="1100" dirty="0">
                <a:solidFill>
                  <a:srgbClr val="FFD0A0"/>
                </a:solidFill>
                <a:latin typeface="Arial"/>
              </a:rPr>
              <a:t>Il tuo contributo va direttamente alla Virtus Basket Molfetta.</a:t>
            </a:r>
          </a:p>
        </p:txBody>
      </p:sp>
      <p:sp>
        <p:nvSpPr>
          <p:cNvPr id="12" name="Ben4"/>
          <p:cNvSpPr/>
          <p:nvPr/>
        </p:nvSpPr>
        <p:spPr>
          <a:xfrm>
            <a:off x="4876200" y="3808200"/>
            <a:ext cx="396240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marL="114300" marT="76200" marB="76200"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📍 Spendi nel territorio</a:t>
            </a:r>
          </a:p>
          <a:p>
            <a:r>
              <a:rPr lang="it-IT" sz="1100" dirty="0">
                <a:solidFill>
                  <a:srgbClr val="A5D6A7"/>
                </a:solidFill>
                <a:latin typeface="Arial"/>
              </a:rPr>
              <a:t>I punti si usano nei negozi locali. Bene per te e per Molfetta.</a:t>
            </a:r>
          </a:p>
        </p:txBody>
      </p:sp>
      <p:sp>
        <p:nvSpPr>
          <p:cNvPr id="13" name="Footer"/>
          <p:cNvSpPr/>
          <p:nvPr/>
        </p:nvSpPr>
        <p:spPr>
          <a:xfrm>
            <a:off x="304800" y="4876800"/>
            <a:ext cx="85344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it-IT" sz="1000" dirty="0">
                <a:solidFill>
                  <a:srgbClr val="7090C0"/>
                </a:solidFill>
                <a:latin typeface="Arial"/>
              </a:rPr>
              <a:t>Ricarica dalla tua area personale su virtusfanmolfetta.com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Presentazione su schermo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Virtus Fan Card — Per i Tifosi</dc:title>
  <dc:subject>PptxGenJS Presentation</dc:subject>
  <dc:creator>Nuova Virtus Basket Molfetta</dc:creator>
  <cp:lastModifiedBy>Nicolò de ROBERTIS</cp:lastModifiedBy>
  <cp:revision>2</cp:revision>
  <dcterms:created xsi:type="dcterms:W3CDTF">2026-06-06T15:01:02Z</dcterms:created>
  <dcterms:modified xsi:type="dcterms:W3CDTF">2026-06-06T15:06:21Z</dcterms:modified>
</cp:coreProperties>
</file>