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60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970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828800"/>
            <a:ext cx="6400800" cy="6400800"/>
          </a:xfrm>
          <a:prstGeom prst="ellipse">
            <a:avLst/>
          </a:prstGeom>
          <a:solidFill>
            <a:srgbClr val="1565C0">
              <a:alpha val="30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7315200" y="914400"/>
            <a:ext cx="3200400" cy="3200400"/>
          </a:xfrm>
          <a:prstGeom prst="ellipse">
            <a:avLst/>
          </a:prstGeom>
          <a:solidFill>
            <a:srgbClr val="F57C00">
              <a:alpha val="25000"/>
            </a:srgbClr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-1828800" y="2743200"/>
            <a:ext cx="3657600" cy="3657600"/>
          </a:xfrm>
          <a:prstGeom prst="ellipse">
            <a:avLst/>
          </a:prstGeom>
          <a:solidFill>
            <a:srgbClr val="1565C0">
              <a:alpha val="18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1463040" cy="146304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94560" y="68580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NUOVA VIRTUS BASKET MOLFETTA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65760" y="11430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6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 E' UN</a:t>
            </a:r>
            <a:endParaRPr lang="en-US" sz="6200" dirty="0"/>
          </a:p>
          <a:p>
            <a:pPr marL="0" indent="0" algn="ctr">
              <a:lnSpc>
                <a:spcPct val="88000"/>
              </a:lnSpc>
              <a:buNone/>
            </a:pPr>
            <a:r>
              <a:rPr lang="en-US" sz="6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ABBONAMENTO.</a:t>
            </a:r>
            <a:endParaRPr lang="en-US" sz="6200" dirty="0"/>
          </a:p>
        </p:txBody>
      </p:sp>
      <p:sp>
        <p:nvSpPr>
          <p:cNvPr id="8" name="Text 5"/>
          <p:cNvSpPr/>
          <p:nvPr/>
        </p:nvSpPr>
        <p:spPr>
          <a:xfrm>
            <a:off x="365760" y="27889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9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E' la tua tessera nella famiglia Virtus.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65760" y="3474720"/>
            <a:ext cx="2926080" cy="411480"/>
          </a:xfrm>
          <a:prstGeom prst="roundRect">
            <a:avLst>
              <a:gd name="adj" fmla="val 13333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365760" y="34747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VIRTUS FAN CARD — Stagione 2026/2027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" y="41605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Punti. Premi. Esperienze. Comunita.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2C2C2C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IL CLASSICO ABBONAMENTO...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91440"/>
            <a:ext cx="960120" cy="96012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conosci bene. Lo hai visto mille volte.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1783080"/>
            <a:ext cx="8412480" cy="658368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502920" y="1892808"/>
            <a:ext cx="438912" cy="43891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502920" y="18928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78992" y="1929384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Paghi. Entri. Fine. Non ottieni nient'altro.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2560320"/>
            <a:ext cx="8412480" cy="658368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502920" y="2670048"/>
            <a:ext cx="438912" cy="43891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502920" y="26700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78992" y="2706624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 importa quanto sei fedele: ogni anno ricomincia da zero.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65760" y="3337560"/>
            <a:ext cx="8412480" cy="658368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2"/>
          <p:cNvSpPr/>
          <p:nvPr/>
        </p:nvSpPr>
        <p:spPr>
          <a:xfrm>
            <a:off x="502920" y="3447288"/>
            <a:ext cx="438912" cy="43891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502920" y="34472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78992" y="3483864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connessione con la citta e con le attivita locali.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365760" y="4114800"/>
            <a:ext cx="8412480" cy="658368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6"/>
          <p:cNvSpPr/>
          <p:nvPr/>
        </p:nvSpPr>
        <p:spPr>
          <a:xfrm>
            <a:off x="502920" y="4224528"/>
            <a:ext cx="438912" cy="43891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7"/>
          <p:cNvSpPr/>
          <p:nvPr/>
        </p:nvSpPr>
        <p:spPr>
          <a:xfrm>
            <a:off x="502920" y="4224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078992" y="4261104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Sei un numero nel registro soci, non parte di una comunita.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0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Noi abbiamo cambiato tutto. Presentando la Virtus Fan Card.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6732" y="-914400"/>
            <a:ext cx="4572000" cy="4572000"/>
          </a:xfrm>
          <a:prstGeom prst="ellipse">
            <a:avLst/>
          </a:prstGeom>
          <a:solidFill>
            <a:srgbClr val="1565C0">
              <a:alpha val="28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1280160" cy="128016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1148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VIRTUS FAN CARD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2011680" y="10515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9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tua tessera. La tua identita. Il tuo vantaggio.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1645920"/>
            <a:ext cx="8412480" cy="123444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548640" y="1691640"/>
            <a:ext cx="8046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"Non stai solo comprando un biglietto per le partite. Stai entrando a far parte di un ecosistema che ti premia ogni volta che scegli Molfetta."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20040" y="3017520"/>
            <a:ext cx="1965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9" name="Shape 6"/>
          <p:cNvSpPr/>
          <p:nvPr/>
        </p:nvSpPr>
        <p:spPr>
          <a:xfrm>
            <a:off x="960120" y="3154680"/>
            <a:ext cx="685800" cy="685800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960120" y="31546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11480" y="3931920"/>
            <a:ext cx="1783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Accesso alle gare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472012" y="3017520"/>
            <a:ext cx="1965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3108960" y="3154680"/>
            <a:ext cx="685800" cy="685800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3108960" y="31546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2560320" y="3931920"/>
            <a:ext cx="1783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Punti ad ogni acquisto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17720" y="3017520"/>
            <a:ext cx="1965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4"/>
          <p:cNvSpPr/>
          <p:nvPr/>
        </p:nvSpPr>
        <p:spPr>
          <a:xfrm>
            <a:off x="5257800" y="3154680"/>
            <a:ext cx="685800" cy="6858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5257800" y="31546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4709160" y="3931920"/>
            <a:ext cx="1783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 esclusivi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766560" y="3017520"/>
            <a:ext cx="1965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8"/>
          <p:cNvSpPr/>
          <p:nvPr/>
        </p:nvSpPr>
        <p:spPr>
          <a:xfrm>
            <a:off x="7406640" y="3154680"/>
            <a:ext cx="685800" cy="68580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7406640" y="31546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6858000" y="3931920"/>
            <a:ext cx="1783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Rete di partner locali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</a:rPr>
              <a:t>SCEGLI IL TUO LIVELLO</a:t>
            </a: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91440"/>
            <a:ext cx="960120" cy="96012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46E7A"/>
                </a:solidFill>
                <a:latin typeface="Trebuchet MS" pitchFamily="34" charset="0"/>
              </a:rPr>
              <a:t>Quattro livelli di appartenenza. Un’unica grande famiglia.</a:t>
            </a:r>
          </a:p>
        </p:txBody>
      </p:sp>
      <p:sp>
        <p:nvSpPr>
          <p:cNvPr id="10" name="Shape BASE bg"/>
          <p:cNvSpPr/>
          <p:nvPr/>
        </p:nvSpPr>
        <p:spPr>
          <a:xfrm>
            <a:off x="182880" y="1590360"/>
            <a:ext cx="2057400" cy="353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BASE bar"/>
          <p:cNvSpPr/>
          <p:nvPr/>
        </p:nvSpPr>
        <p:spPr>
          <a:xfrm>
            <a:off x="182880" y="1590360"/>
            <a:ext cx="20574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BASE nome"/>
          <p:cNvSpPr/>
          <p:nvPr/>
        </p:nvSpPr>
        <p:spPr>
          <a:xfrm>
            <a:off x="274320" y="170008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  <a:latin typeface="Trebuchet MS" pitchFamily="34" charset="0"/>
              </a:rPr>
              <a:t>BASE</a:t>
            </a:r>
          </a:p>
        </p:txBody>
      </p:sp>
      <p:sp>
        <p:nvSpPr>
          <p:cNvPr id="13" name="Text BASE prezzo"/>
          <p:cNvSpPr/>
          <p:nvPr/>
        </p:nvSpPr>
        <p:spPr>
          <a:xfrm>
            <a:off x="274320" y="2020128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6B"/>
                </a:solidFill>
                <a:latin typeface="Trebuchet MS" pitchFamily="34" charset="0"/>
              </a:rPr>
              <a:t>10,00 €</a:t>
            </a:r>
          </a:p>
        </p:txBody>
      </p:sp>
      <p:sp>
        <p:nvSpPr>
          <p:cNvPr id="15" name="Text BASE benefits"/>
          <p:cNvSpPr/>
          <p:nvPr/>
        </p:nvSpPr>
        <p:spPr>
          <a:xfrm>
            <a:off x="274320" y="2706048"/>
            <a:ext cx="1874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Trebuchet MS" pitchFamily="34" charset="0"/>
              </a:rPr>
              <a:t>Accesso alle gare</a:t>
            </a:r>
          </a:p>
          <a:p>
            <a:pPr marL="228600" indent="-228600"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Trebuchet MS" pitchFamily="34" charset="0"/>
              </a:rPr>
              <a:t>QR code personale</a:t>
            </a:r>
          </a:p>
          <a:p>
            <a:pPr marL="228600" indent="-228600"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Trebuchet MS" pitchFamily="34" charset="0"/>
              </a:rPr>
              <a:t>Accumulo punti partner</a:t>
            </a:r>
          </a:p>
          <a:p>
            <a:pPr marL="228600" indent="-228600"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Trebuchet MS" pitchFamily="34" charset="0"/>
              </a:rPr>
              <a:t>Catalogo premi</a:t>
            </a:r>
          </a:p>
        </p:txBody>
      </p:sp>
      <p:sp>
        <p:nvSpPr>
          <p:cNvPr id="20" name="Shape BRONZE bg"/>
          <p:cNvSpPr/>
          <p:nvPr/>
        </p:nvSpPr>
        <p:spPr>
          <a:xfrm>
            <a:off x="2377440" y="1590360"/>
            <a:ext cx="2057400" cy="353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BRONZE bar"/>
          <p:cNvSpPr/>
          <p:nvPr/>
        </p:nvSpPr>
        <p:spPr>
          <a:xfrm>
            <a:off x="2377440" y="1590360"/>
            <a:ext cx="2057400" cy="73152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BRONZE nome"/>
          <p:cNvSpPr/>
          <p:nvPr/>
        </p:nvSpPr>
        <p:spPr>
          <a:xfrm>
            <a:off x="2468880" y="170008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D7F32"/>
                </a:solidFill>
                <a:latin typeface="Trebuchet MS" pitchFamily="34" charset="0"/>
              </a:rPr>
              <a:t>BRONZE</a:t>
            </a:r>
          </a:p>
        </p:txBody>
      </p:sp>
      <p:sp>
        <p:nvSpPr>
          <p:cNvPr id="23" name="Text BRONZE prezzo"/>
          <p:cNvSpPr/>
          <p:nvPr/>
        </p:nvSpPr>
        <p:spPr>
          <a:xfrm>
            <a:off x="2468880" y="2020128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6B"/>
                </a:solidFill>
                <a:latin typeface="Trebuchet MS" pitchFamily="34" charset="0"/>
              </a:rPr>
              <a:t>30,00 €</a:t>
            </a:r>
          </a:p>
        </p:txBody>
      </p:sp>
      <p:sp>
        <p:nvSpPr>
          <p:cNvPr id="24" name="Text BRONZE anno"/>
          <p:cNvSpPr/>
          <p:nvPr/>
        </p:nvSpPr>
        <p:spPr>
          <a:xfrm>
            <a:off x="2468880" y="247732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Trebuchet MS" pitchFamily="34" charset="0"/>
              </a:rPr>
              <a:t>/anno</a:t>
            </a:r>
          </a:p>
        </p:txBody>
      </p:sp>
      <p:sp>
        <p:nvSpPr>
          <p:cNvPr id="25" name="Text BRONZE benefits"/>
          <p:cNvSpPr/>
          <p:nvPr/>
        </p:nvSpPr>
        <p:spPr>
          <a:xfrm>
            <a:off x="2468880" y="2706048"/>
            <a:ext cx="1874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Trebuchet MS" pitchFamily="34" charset="0"/>
              </a:rPr>
              <a:t>Tutto il livello Base</a:t>
            </a:r>
          </a:p>
          <a:p>
            <a:pPr marL="228600" indent="-228600"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Trebuchet MS" pitchFamily="34" charset="0"/>
              </a:rPr>
              <a:t>Cappellino Virtus</a:t>
            </a:r>
          </a:p>
          <a:p>
            <a:pPr marL="228600" indent="-228600"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Trebuchet MS" pitchFamily="34" charset="0"/>
              </a:rPr>
              <a:t>30 punti benvenuto</a:t>
            </a:r>
          </a:p>
          <a:p>
            <a:pPr marL="228600" indent="-228600"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Trebuchet MS" pitchFamily="34" charset="0"/>
              </a:rPr>
              <a:t>+3 pt a gara</a:t>
            </a:r>
          </a:p>
          <a:p>
            <a:pPr marL="228600" indent="-228600"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Trebuchet MS" pitchFamily="34" charset="0"/>
              </a:rPr>
              <a:t>Bonus compleanno</a:t>
            </a:r>
          </a:p>
        </p:txBody>
      </p:sp>
      <p:sp>
        <p:nvSpPr>
          <p:cNvPr id="30" name="Shape SILVER featured"/>
          <p:cNvSpPr/>
          <p:nvPr/>
        </p:nvSpPr>
        <p:spPr>
          <a:xfrm>
            <a:off x="4549080" y="1535496"/>
            <a:ext cx="2166120" cy="3639648"/>
          </a:xfrm>
          <a:prstGeom prst="rect">
            <a:avLst/>
          </a:prstGeom>
          <a:solidFill>
            <a:srgbClr val="F57C00">
              <a:alpha val="10000"/>
            </a:srgbClr>
          </a:solidFill>
          <a:ln w="25400">
            <a:solidFill>
              <a:srgbClr val="F57C0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Shape SILVER badge bg"/>
          <p:cNvSpPr/>
          <p:nvPr/>
        </p:nvSpPr>
        <p:spPr>
          <a:xfrm>
            <a:off x="5126760" y="1535496"/>
            <a:ext cx="1006920" cy="274320"/>
          </a:xfrm>
          <a:prstGeom prst="roundRect">
            <a:avLst>
              <a:gd name="adj" fmla="val 14286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SILVER badge"/>
          <p:cNvSpPr/>
          <p:nvPr/>
        </p:nvSpPr>
        <p:spPr>
          <a:xfrm>
            <a:off x="5126760" y="1535496"/>
            <a:ext cx="1006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itchFamily="34" charset="0"/>
              </a:rPr>
              <a:t>PIU SCELTO</a:t>
            </a:r>
          </a:p>
        </p:txBody>
      </p:sp>
      <p:sp>
        <p:nvSpPr>
          <p:cNvPr id="33" name="Shape SILVER bg"/>
          <p:cNvSpPr/>
          <p:nvPr/>
        </p:nvSpPr>
        <p:spPr>
          <a:xfrm>
            <a:off x="4572000" y="1590360"/>
            <a:ext cx="2057400" cy="353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4" name="Shape SILVER bar"/>
          <p:cNvSpPr/>
          <p:nvPr/>
        </p:nvSpPr>
        <p:spPr>
          <a:xfrm>
            <a:off x="4572000" y="1590360"/>
            <a:ext cx="2057400" cy="73152"/>
          </a:xfrm>
          <a:prstGeom prst="rect">
            <a:avLst/>
          </a:prstGeom>
          <a:solidFill>
            <a:srgbClr val="757575"/>
          </a:solidFill>
          <a:ln w="12700">
            <a:solidFill>
              <a:srgbClr val="75757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SILVER nome"/>
          <p:cNvSpPr/>
          <p:nvPr/>
        </p:nvSpPr>
        <p:spPr>
          <a:xfrm>
            <a:off x="4663440" y="170008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57575"/>
                </a:solidFill>
                <a:latin typeface="Trebuchet MS" pitchFamily="34" charset="0"/>
              </a:rPr>
              <a:t>SILVER</a:t>
            </a:r>
          </a:p>
        </p:txBody>
      </p:sp>
      <p:sp>
        <p:nvSpPr>
          <p:cNvPr id="36" name="Text SILVER prezzo"/>
          <p:cNvSpPr/>
          <p:nvPr/>
        </p:nvSpPr>
        <p:spPr>
          <a:xfrm>
            <a:off x="4663440" y="2020128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6B"/>
                </a:solidFill>
                <a:latin typeface="Trebuchet MS" pitchFamily="34" charset="0"/>
              </a:rPr>
              <a:t>50,00 €</a:t>
            </a:r>
          </a:p>
        </p:txBody>
      </p:sp>
      <p:sp>
        <p:nvSpPr>
          <p:cNvPr id="37" name="Text SILVER anno"/>
          <p:cNvSpPr/>
          <p:nvPr/>
        </p:nvSpPr>
        <p:spPr>
          <a:xfrm>
            <a:off x="4663440" y="2477328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Trebuchet MS" pitchFamily="34" charset="0"/>
              </a:rPr>
              <a:t>/anno</a:t>
            </a:r>
          </a:p>
        </p:txBody>
      </p:sp>
      <p:sp>
        <p:nvSpPr>
          <p:cNvPr id="38" name="Text SILVER benefits"/>
          <p:cNvSpPr/>
          <p:nvPr/>
        </p:nvSpPr>
        <p:spPr>
          <a:xfrm>
            <a:off x="4663440" y="2706048"/>
            <a:ext cx="1874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Trebuchet MS" pitchFamily="34" charset="0"/>
              </a:rPr>
              <a:t>Tutto il livello Bronze</a:t>
            </a:r>
          </a:p>
          <a:p>
            <a:pPr marL="228600" indent="-228600">
              <a:buSzPct val="100000"/>
              <a:buChar char="•"/>
            </a:pPr>
            <a:r>
              <a:rPr lang="en-US" sz="900" b="1" dirty="0">
                <a:solidFill>
                  <a:srgbClr val="1A3A6B"/>
                </a:solidFill>
                <a:latin typeface="Trebuchet MS" pitchFamily="34" charset="0"/>
              </a:rPr>
              <a:t>Maglia gara personalizzata</a:t>
            </a:r>
          </a:p>
          <a:p>
            <a:pPr marL="228600" indent="-228600"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Trebuchet MS" pitchFamily="34" charset="0"/>
              </a:rPr>
              <a:t>Posto riservato settore B</a:t>
            </a:r>
          </a:p>
          <a:p>
            <a:pPr marL="228600" indent="-228600"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Trebuchet MS" pitchFamily="34" charset="0"/>
              </a:rPr>
              <a:t>50 punti benvenuto</a:t>
            </a:r>
          </a:p>
          <a:p>
            <a:pPr marL="228600" indent="-228600"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Trebuchet MS" pitchFamily="34" charset="0"/>
              </a:rPr>
              <a:t>+5 pt a gara</a:t>
            </a:r>
          </a:p>
        </p:txBody>
      </p:sp>
      <p:sp>
        <p:nvSpPr>
          <p:cNvPr id="40" name="Shape GOLD bg"/>
          <p:cNvSpPr/>
          <p:nvPr/>
        </p:nvSpPr>
        <p:spPr>
          <a:xfrm>
            <a:off x="6812640" y="1590360"/>
            <a:ext cx="2148840" cy="353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1" name="Shape GOLD bar"/>
          <p:cNvSpPr/>
          <p:nvPr/>
        </p:nvSpPr>
        <p:spPr>
          <a:xfrm>
            <a:off x="6812640" y="1590360"/>
            <a:ext cx="2148840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GOLD nome"/>
          <p:cNvSpPr/>
          <p:nvPr/>
        </p:nvSpPr>
        <p:spPr>
          <a:xfrm>
            <a:off x="6904080" y="1700088"/>
            <a:ext cx="196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A825"/>
                </a:solidFill>
                <a:latin typeface="Trebuchet MS" pitchFamily="34" charset="0"/>
              </a:rPr>
              <a:t>GOLD</a:t>
            </a:r>
          </a:p>
        </p:txBody>
      </p:sp>
      <p:sp>
        <p:nvSpPr>
          <p:cNvPr id="43" name="Text GOLD prezzo"/>
          <p:cNvSpPr/>
          <p:nvPr/>
        </p:nvSpPr>
        <p:spPr>
          <a:xfrm>
            <a:off x="6904080" y="2020128"/>
            <a:ext cx="196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3A6B"/>
                </a:solidFill>
                <a:latin typeface="Trebuchet MS" pitchFamily="34" charset="0"/>
              </a:rPr>
              <a:t>100,00 €</a:t>
            </a:r>
          </a:p>
        </p:txBody>
      </p:sp>
      <p:sp>
        <p:nvSpPr>
          <p:cNvPr id="44" name="Text GOLD anno"/>
          <p:cNvSpPr/>
          <p:nvPr/>
        </p:nvSpPr>
        <p:spPr>
          <a:xfrm>
            <a:off x="6904080" y="2477328"/>
            <a:ext cx="196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Trebuchet MS" pitchFamily="34" charset="0"/>
              </a:rPr>
              <a:t>/anno</a:t>
            </a:r>
          </a:p>
        </p:txBody>
      </p:sp>
      <p:sp>
        <p:nvSpPr>
          <p:cNvPr id="45" name="Text GOLD benefits"/>
          <p:cNvSpPr/>
          <p:nvPr/>
        </p:nvSpPr>
        <p:spPr>
          <a:xfrm>
            <a:off x="6904080" y="2706048"/>
            <a:ext cx="196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Trebuchet MS" pitchFamily="34" charset="0"/>
              </a:rPr>
              <a:t>Tutto il livello Silver</a:t>
            </a:r>
          </a:p>
          <a:p>
            <a:pPr marL="228600" indent="-228600"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Trebuchet MS" pitchFamily="34" charset="0"/>
              </a:rPr>
              <a:t>Cappellino + Maglia VIP</a:t>
            </a:r>
          </a:p>
          <a:p>
            <a:pPr marL="228600" indent="-228600"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Trebuchet MS" pitchFamily="34" charset="0"/>
              </a:rPr>
              <a:t>Posto riservato settore A</a:t>
            </a:r>
          </a:p>
          <a:p>
            <a:pPr marL="228600" indent="-228600"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Trebuchet MS" pitchFamily="34" charset="0"/>
              </a:rPr>
              <a:t>Accesso area hospitality</a:t>
            </a:r>
          </a:p>
          <a:p>
            <a:pPr marL="228600" indent="-228600"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Trebuchet MS" pitchFamily="34" charset="0"/>
              </a:rPr>
              <a:t>100 punti benvenuto</a:t>
            </a:r>
          </a:p>
          <a:p>
            <a:pPr marL="228600" indent="-228600">
              <a:buSzPct val="100000"/>
              <a:buChar char="•"/>
            </a:pPr>
            <a:r>
              <a:rPr lang="en-US" sz="900" dirty="0">
                <a:solidFill>
                  <a:srgbClr val="546E7A"/>
                </a:solidFill>
                <a:latin typeface="Trebuchet MS" pitchFamily="34" charset="0"/>
              </a:rPr>
              <a:t>+10 pt a gara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TUA GIORNATA CON LA FAN CARD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91440"/>
            <a:ext cx="960120" cy="960120"/>
          </a:xfrm>
          <a:prstGeom prst="ellipse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65760" y="1234440"/>
            <a:ext cx="8412480" cy="658368"/>
          </a:xfrm>
          <a:prstGeom prst="rect">
            <a:avLst/>
          </a:prstGeom>
          <a:solidFill>
            <a:srgbClr val="F8FA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3"/>
          <p:cNvSpPr/>
          <p:nvPr/>
        </p:nvSpPr>
        <p:spPr>
          <a:xfrm>
            <a:off x="502920" y="1344168"/>
            <a:ext cx="438912" cy="438912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502920" y="13441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78992" y="128930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57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09:00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78992" y="1508760"/>
            <a:ext cx="7406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Passi dal bar sotto casa, mostri il QR della Fan Card. Prendi il caffe e accumuli 2 punti.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65760" y="1993392"/>
            <a:ext cx="8412480" cy="658368"/>
          </a:xfrm>
          <a:prstGeom prst="rect">
            <a:avLst/>
          </a:prstGeom>
          <a:solidFill>
            <a:srgbClr val="F8FA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502920" y="2103120"/>
            <a:ext cx="438912" cy="438912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502920" y="21031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78992" y="2048256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288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12:00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78992" y="2267712"/>
            <a:ext cx="7406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pranzo dal ristorante partner di Via Roma. Pranzo e altri 8 punti sul tuo saldo.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65760" y="2752344"/>
            <a:ext cx="8412480" cy="658368"/>
          </a:xfrm>
          <a:prstGeom prst="rect">
            <a:avLst/>
          </a:prstGeom>
          <a:solidFill>
            <a:srgbClr val="F8FA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3"/>
          <p:cNvSpPr/>
          <p:nvPr/>
        </p:nvSpPr>
        <p:spPr>
          <a:xfrm>
            <a:off x="502920" y="2862072"/>
            <a:ext cx="438912" cy="43891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502920" y="28620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78992" y="28072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19:30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78992" y="3026664"/>
            <a:ext cx="7406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Arrivi al PalaPoli. Il tuo posto e gia prenotato. Scanner al tornello: accesso immediato.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65760" y="3511296"/>
            <a:ext cx="8412480" cy="658368"/>
          </a:xfrm>
          <a:prstGeom prst="rect">
            <a:avLst/>
          </a:prstGeom>
          <a:solidFill>
            <a:srgbClr val="F8FA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8"/>
          <p:cNvSpPr/>
          <p:nvPr/>
        </p:nvSpPr>
        <p:spPr>
          <a:xfrm>
            <a:off x="502920" y="3621024"/>
            <a:ext cx="438912" cy="43891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502920" y="36210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078992" y="35661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20:45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78992" y="3785616"/>
            <a:ext cx="7406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Finale gara. Hai accumulato +5 punti solo per essere qui. Totale oggi: 15 punti!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65760" y="4270248"/>
            <a:ext cx="8412480" cy="658368"/>
          </a:xfrm>
          <a:prstGeom prst="rect">
            <a:avLst/>
          </a:prstGeom>
          <a:solidFill>
            <a:srgbClr val="F8FA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3"/>
          <p:cNvSpPr/>
          <p:nvPr/>
        </p:nvSpPr>
        <p:spPr>
          <a:xfrm>
            <a:off x="502920" y="4379976"/>
            <a:ext cx="438912" cy="438912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4"/>
          <p:cNvSpPr/>
          <p:nvPr/>
        </p:nvSpPr>
        <p:spPr>
          <a:xfrm>
            <a:off x="502920" y="437997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078992" y="432511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Fine mese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078992" y="4544568"/>
            <a:ext cx="7406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Hai abbastanza punti. Riscatti una cena gratis al ristorante partner. Gratis.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ACCUMULA. RISCATTA. RIPETI.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91440"/>
            <a:ext cx="960120" cy="96012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17043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DOVE ACCUMULI PUNTI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65760" y="1719072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731520" y="16276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Ogni acquisto dai partner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31520" y="1883664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pt ogni EUR 1 speso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" y="2240280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731520" y="214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Ogni gara casalinga (Bronze)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31520" y="240487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+3 pt a partita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65760" y="2761488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731520" y="26700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Ogni gara casalinga (Silver)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31520" y="292608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+5 pt a partita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3282696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731520" y="31912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Ogni gara casalinga (Gold)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31520" y="344728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+10 pt a partita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65760" y="3803904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731520" y="37124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Campagne speciali partner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31520" y="396849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Fino a 3x i punti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65760" y="4325112"/>
            <a:ext cx="256032" cy="25603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731520" y="4233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Bonus benvenuto all iscrizione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731520" y="4489704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 / 50 / 100 pt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663440" y="1097280"/>
            <a:ext cx="4206240" cy="40233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5" name="Text 22"/>
          <p:cNvSpPr/>
          <p:nvPr/>
        </p:nvSpPr>
        <p:spPr>
          <a:xfrm>
            <a:off x="4846320" y="12070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8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COSA PUOI RISCATTARE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846320" y="1810512"/>
            <a:ext cx="256032" cy="256032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4"/>
          <p:cNvSpPr/>
          <p:nvPr/>
        </p:nvSpPr>
        <p:spPr>
          <a:xfrm>
            <a:off x="5212080" y="171907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Caffe o aperitivo gratis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846320" y="2331720"/>
            <a:ext cx="256032" cy="256032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6"/>
          <p:cNvSpPr/>
          <p:nvPr/>
        </p:nvSpPr>
        <p:spPr>
          <a:xfrm>
            <a:off x="5212080" y="2240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Pranzo o cena da un partner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846320" y="2852928"/>
            <a:ext cx="256032" cy="256032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8"/>
          <p:cNvSpPr/>
          <p:nvPr/>
        </p:nvSpPr>
        <p:spPr>
          <a:xfrm>
            <a:off x="5212080" y="276148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Sconti su abbigliamento e prodotti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846320" y="3374136"/>
            <a:ext cx="256032" cy="256032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0"/>
          <p:cNvSpPr/>
          <p:nvPr/>
        </p:nvSpPr>
        <p:spPr>
          <a:xfrm>
            <a:off x="5212080" y="328269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Accesso ad eventi speciali Virtus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846320" y="3895344"/>
            <a:ext cx="256032" cy="256032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2"/>
          <p:cNvSpPr/>
          <p:nvPr/>
        </p:nvSpPr>
        <p:spPr>
          <a:xfrm>
            <a:off x="5212080" y="380390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Prodotti ufficiali della squadra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846320" y="4416552"/>
            <a:ext cx="256032" cy="256032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4"/>
          <p:cNvSpPr/>
          <p:nvPr/>
        </p:nvSpPr>
        <p:spPr>
          <a:xfrm>
            <a:off x="5212080" y="432511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Esperienze VIP (Gold)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FORZA DEL TERRITORIO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91440"/>
            <a:ext cx="960120" cy="960120"/>
          </a:xfrm>
          <a:prstGeom prst="ellipse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 la Virtus Fan Card non stai solo supportando la squadra. Stai investendo in Molfetta.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20040" y="1874520"/>
            <a:ext cx="2697480" cy="1234440"/>
          </a:xfrm>
          <a:prstGeom prst="rect">
            <a:avLst/>
          </a:prstGeom>
          <a:solidFill>
            <a:srgbClr val="F0F6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457200" y="2057400"/>
            <a:ext cx="457200" cy="457200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33272" y="203911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8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Bar e Ristorazione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253288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Colazione, pranzo, aperitivo. Ogni consumazione vale punti.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00400" y="1874520"/>
            <a:ext cx="2697480" cy="1234440"/>
          </a:xfrm>
          <a:prstGeom prst="rect">
            <a:avLst/>
          </a:prstGeom>
          <a:solidFill>
            <a:srgbClr val="F0F6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3337560" y="2057400"/>
            <a:ext cx="457200" cy="457200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333756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913632" y="203911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8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Abbigliamento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337560" y="253288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Negozi moda e sport. Acquisti che diventano premi.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080760" y="1874520"/>
            <a:ext cx="2697480" cy="1234440"/>
          </a:xfrm>
          <a:prstGeom prst="rect">
            <a:avLst/>
          </a:prstGeom>
          <a:solidFill>
            <a:srgbClr val="F0F6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Shape 14"/>
          <p:cNvSpPr/>
          <p:nvPr/>
        </p:nvSpPr>
        <p:spPr>
          <a:xfrm>
            <a:off x="6217920" y="2057400"/>
            <a:ext cx="457200" cy="457200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621792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793992" y="203911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8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Sport e Benessere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217920" y="253288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Palestre e centri wellness. Il tuo benessere vale doppio.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20040" y="3291840"/>
            <a:ext cx="2697480" cy="1234440"/>
          </a:xfrm>
          <a:prstGeom prst="rect">
            <a:avLst/>
          </a:prstGeom>
          <a:solidFill>
            <a:srgbClr val="F0F6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19"/>
          <p:cNvSpPr/>
          <p:nvPr/>
        </p:nvSpPr>
        <p:spPr>
          <a:xfrm>
            <a:off x="457200" y="3474720"/>
            <a:ext cx="457200" cy="457200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0"/>
          <p:cNvSpPr/>
          <p:nvPr/>
        </p:nvSpPr>
        <p:spPr>
          <a:xfrm>
            <a:off x="45720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33272" y="345643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8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Servizi Professionali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57200" y="395020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Medici, studi, artigiani. Anche loro fanno parte della famiglia.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3200400" y="3291840"/>
            <a:ext cx="2697480" cy="1234440"/>
          </a:xfrm>
          <a:prstGeom prst="rect">
            <a:avLst/>
          </a:prstGeom>
          <a:solidFill>
            <a:srgbClr val="F0F6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7" name="Shape 24"/>
          <p:cNvSpPr/>
          <p:nvPr/>
        </p:nvSpPr>
        <p:spPr>
          <a:xfrm>
            <a:off x="3337560" y="3474720"/>
            <a:ext cx="457200" cy="457200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5"/>
          <p:cNvSpPr/>
          <p:nvPr/>
        </p:nvSpPr>
        <p:spPr>
          <a:xfrm>
            <a:off x="333756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3913632" y="345643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8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Intrattenimento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337560" y="395020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Cinema, eventi, cultura. Molfetta viva tutto l anno.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080760" y="3291840"/>
            <a:ext cx="2697480" cy="1234440"/>
          </a:xfrm>
          <a:prstGeom prst="rect">
            <a:avLst/>
          </a:prstGeom>
          <a:solidFill>
            <a:srgbClr val="F0F6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2" name="Shape 29"/>
          <p:cNvSpPr/>
          <p:nvPr/>
        </p:nvSpPr>
        <p:spPr>
          <a:xfrm>
            <a:off x="6217920" y="3474720"/>
            <a:ext cx="457200" cy="457200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0"/>
          <p:cNvSpPr/>
          <p:nvPr/>
        </p:nvSpPr>
        <p:spPr>
          <a:xfrm>
            <a:off x="621792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793992" y="3456432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8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Commercio Locale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6217920" y="395020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negozi del centro. Ogni spesa rimane a Molfetta.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TUTTO IN UN QR CODE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91440"/>
            <a:ext cx="960120" cy="960120"/>
          </a:xfrm>
          <a:prstGeom prst="ellipse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234440"/>
            <a:ext cx="32004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3"/>
          <p:cNvSpPr/>
          <p:nvPr/>
        </p:nvSpPr>
        <p:spPr>
          <a:xfrm>
            <a:off x="777240" y="1554480"/>
            <a:ext cx="2560320" cy="2560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777240" y="155448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QR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640080" y="42062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VIRTUS FAN CARD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452628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Mario Rossi · Piano SILVER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931920" y="1234440"/>
            <a:ext cx="4846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4069080" y="1325880"/>
            <a:ext cx="438912" cy="43891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4069080" y="132588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617720" y="128930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Sempre con te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617720" y="153619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Accedi all area personale dal browser. Nessuna app da installare.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931920" y="1965960"/>
            <a:ext cx="4846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3"/>
          <p:cNvSpPr/>
          <p:nvPr/>
        </p:nvSpPr>
        <p:spPr>
          <a:xfrm>
            <a:off x="4069080" y="2057400"/>
            <a:ext cx="438912" cy="438912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4"/>
          <p:cNvSpPr/>
          <p:nvPr/>
        </p:nvSpPr>
        <p:spPr>
          <a:xfrm>
            <a:off x="4069080" y="20574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617720" y="202082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7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QR code personale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617720" y="226771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codice univoco che ti identifica in tutti i negozi partner e al PalaPoli.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931920" y="2697480"/>
            <a:ext cx="4846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8"/>
          <p:cNvSpPr/>
          <p:nvPr/>
        </p:nvSpPr>
        <p:spPr>
          <a:xfrm>
            <a:off x="4069080" y="2788920"/>
            <a:ext cx="438912" cy="438912"/>
          </a:xfrm>
          <a:prstGeom prst="ellipse">
            <a:avLst/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4069080" y="27889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617720" y="275234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8D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Saldo punti in tempo reale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617720" y="299923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Vedi i punti accumularsi dopo ogni acquisto. Istantaneamente.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931920" y="3429000"/>
            <a:ext cx="4846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23"/>
          <p:cNvSpPr/>
          <p:nvPr/>
        </p:nvSpPr>
        <p:spPr>
          <a:xfrm>
            <a:off x="4069080" y="3520440"/>
            <a:ext cx="438912" cy="43891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4"/>
          <p:cNvSpPr/>
          <p:nvPr/>
        </p:nvSpPr>
        <p:spPr>
          <a:xfrm>
            <a:off x="4069080" y="352044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4617720" y="348386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Coupon digitali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617720" y="373075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Riscatti un premio? Ricevi un codice digitale da mostrare al partner.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931920" y="4160520"/>
            <a:ext cx="4846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Shape 28"/>
          <p:cNvSpPr/>
          <p:nvPr/>
        </p:nvSpPr>
        <p:spPr>
          <a:xfrm>
            <a:off x="4069080" y="4251960"/>
            <a:ext cx="438912" cy="438912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29"/>
          <p:cNvSpPr/>
          <p:nvPr/>
        </p:nvSpPr>
        <p:spPr>
          <a:xfrm>
            <a:off x="4069080" y="42519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4617720" y="421538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1B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Storico completo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617720" y="4462272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Tutte le transazioni, gli ingressi alle gare e i premi riscattati.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772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PERCHE' VALE LA PENA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91440"/>
            <a:ext cx="960120" cy="960120"/>
          </a:xfrm>
          <a:prstGeom prst="ellipse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200400" y="1170432"/>
            <a:ext cx="2743200" cy="41148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3200400" y="117043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ABBONAMENTO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546E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CLASSICO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035040" y="1170432"/>
            <a:ext cx="2743200" cy="4114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6035040" y="117043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VIRTUS FAN CARD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65760" y="1664208"/>
            <a:ext cx="2743200" cy="438912"/>
          </a:xfrm>
          <a:prstGeom prst="rect">
            <a:avLst/>
          </a:prstGeom>
          <a:solidFill>
            <a:srgbClr val="F8FA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502920" y="1737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Accesso alle gare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1664208"/>
            <a:ext cx="2743200" cy="438912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320040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35040" y="1664208"/>
            <a:ext cx="2743200" cy="438912"/>
          </a:xfrm>
          <a:prstGeom prst="rect">
            <a:avLst/>
          </a:prstGeom>
          <a:solidFill>
            <a:srgbClr val="F0FFF4"/>
          </a:solidFill>
          <a:ln w="12700">
            <a:solidFill>
              <a:srgbClr val="AADDA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603504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Si, con </a:t>
            </a:r>
            <a:r>
              <a:rPr lang="en-US" sz="1000" b="1" dirty="0" err="1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posto</a:t>
            </a:r>
            <a:r>
              <a:rPr lang="en-US" sz="10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000" b="1" dirty="0" err="1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riservato</a:t>
            </a:r>
            <a:r>
              <a:rPr lang="en-US" sz="10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(GOLD &amp; SILVER)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2139696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502920" y="22128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 e vantaggi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00400" y="2139696"/>
            <a:ext cx="2743200" cy="438912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3200400" y="22128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35040" y="2139696"/>
            <a:ext cx="2743200" cy="438912"/>
          </a:xfrm>
          <a:prstGeom prst="rect">
            <a:avLst/>
          </a:prstGeom>
          <a:solidFill>
            <a:srgbClr val="F0FFF4"/>
          </a:solidFill>
          <a:ln w="12700">
            <a:solidFill>
              <a:srgbClr val="AADDA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7"/>
          <p:cNvSpPr/>
          <p:nvPr/>
        </p:nvSpPr>
        <p:spPr>
          <a:xfrm>
            <a:off x="6035040" y="22128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Si, catalogo sempre attivo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365760" y="2615184"/>
            <a:ext cx="2743200" cy="438912"/>
          </a:xfrm>
          <a:prstGeom prst="rect">
            <a:avLst/>
          </a:prstGeom>
          <a:solidFill>
            <a:srgbClr val="F8FA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502920" y="26883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Punti sugli acquisti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200400" y="2615184"/>
            <a:ext cx="2743200" cy="438912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1"/>
          <p:cNvSpPr/>
          <p:nvPr/>
        </p:nvSpPr>
        <p:spPr>
          <a:xfrm>
            <a:off x="3200400" y="26883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035040" y="2615184"/>
            <a:ext cx="2743200" cy="438912"/>
          </a:xfrm>
          <a:prstGeom prst="rect">
            <a:avLst/>
          </a:prstGeom>
          <a:solidFill>
            <a:srgbClr val="F0FFF4"/>
          </a:solidFill>
          <a:ln w="12700">
            <a:solidFill>
              <a:srgbClr val="AADDA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3"/>
          <p:cNvSpPr/>
          <p:nvPr/>
        </p:nvSpPr>
        <p:spPr>
          <a:xfrm>
            <a:off x="6035040" y="26883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Si, in tutta Molfetta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5760" y="3090672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5"/>
          <p:cNvSpPr/>
          <p:nvPr/>
        </p:nvSpPr>
        <p:spPr>
          <a:xfrm>
            <a:off x="502920" y="316382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Connessione al territorio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200400" y="3090672"/>
            <a:ext cx="2743200" cy="438912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7"/>
          <p:cNvSpPr/>
          <p:nvPr/>
        </p:nvSpPr>
        <p:spPr>
          <a:xfrm>
            <a:off x="3200400" y="316382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035040" y="3090672"/>
            <a:ext cx="2743200" cy="438912"/>
          </a:xfrm>
          <a:prstGeom prst="rect">
            <a:avLst/>
          </a:prstGeom>
          <a:solidFill>
            <a:srgbClr val="F0FFF4"/>
          </a:solidFill>
          <a:ln w="12700">
            <a:solidFill>
              <a:srgbClr val="AADDA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29"/>
          <p:cNvSpPr/>
          <p:nvPr/>
        </p:nvSpPr>
        <p:spPr>
          <a:xfrm>
            <a:off x="6035040" y="316382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Si, rete partner locali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65760" y="3566160"/>
            <a:ext cx="2743200" cy="438912"/>
          </a:xfrm>
          <a:prstGeom prst="rect">
            <a:avLst/>
          </a:prstGeom>
          <a:solidFill>
            <a:srgbClr val="F8FA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1"/>
          <p:cNvSpPr/>
          <p:nvPr/>
        </p:nvSpPr>
        <p:spPr>
          <a:xfrm>
            <a:off x="502920" y="36393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Area personale digitale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3200400" y="3566160"/>
            <a:ext cx="2743200" cy="438912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3"/>
          <p:cNvSpPr/>
          <p:nvPr/>
        </p:nvSpPr>
        <p:spPr>
          <a:xfrm>
            <a:off x="3200400" y="36393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035040" y="3566160"/>
            <a:ext cx="2743200" cy="438912"/>
          </a:xfrm>
          <a:prstGeom prst="rect">
            <a:avLst/>
          </a:prstGeom>
          <a:solidFill>
            <a:srgbClr val="F0FFF4"/>
          </a:solidFill>
          <a:ln w="12700">
            <a:solidFill>
              <a:srgbClr val="AADDA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5"/>
          <p:cNvSpPr/>
          <p:nvPr/>
        </p:nvSpPr>
        <p:spPr>
          <a:xfrm>
            <a:off x="6035040" y="36393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Si, QR code e saldo live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365760" y="4041648"/>
            <a:ext cx="2743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7"/>
          <p:cNvSpPr/>
          <p:nvPr/>
        </p:nvSpPr>
        <p:spPr>
          <a:xfrm>
            <a:off x="502920" y="4114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Vantaggi per la citta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3200400" y="4041648"/>
            <a:ext cx="2743200" cy="438912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39"/>
          <p:cNvSpPr/>
          <p:nvPr/>
        </p:nvSpPr>
        <p:spPr>
          <a:xfrm>
            <a:off x="3200400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6035040" y="4041648"/>
            <a:ext cx="2743200" cy="438912"/>
          </a:xfrm>
          <a:prstGeom prst="rect">
            <a:avLst/>
          </a:prstGeom>
          <a:solidFill>
            <a:srgbClr val="F0FFF4"/>
          </a:solidFill>
          <a:ln w="12700">
            <a:solidFill>
              <a:srgbClr val="AADDA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1"/>
          <p:cNvSpPr/>
          <p:nvPr/>
        </p:nvSpPr>
        <p:spPr>
          <a:xfrm>
            <a:off x="6035040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Si, economia locale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365760" y="4517136"/>
            <a:ext cx="2743200" cy="438912"/>
          </a:xfrm>
          <a:prstGeom prst="rect">
            <a:avLst/>
          </a:prstGeom>
          <a:solidFill>
            <a:srgbClr val="F8FAFF"/>
          </a:solidFill>
          <a:ln w="12700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Text 43"/>
          <p:cNvSpPr/>
          <p:nvPr/>
        </p:nvSpPr>
        <p:spPr>
          <a:xfrm>
            <a:off x="502920" y="45902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 premia ogni anno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3200400" y="4517136"/>
            <a:ext cx="2743200" cy="438912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45"/>
          <p:cNvSpPr/>
          <p:nvPr/>
        </p:nvSpPr>
        <p:spPr>
          <a:xfrm>
            <a:off x="3200400" y="45902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6035040" y="4517136"/>
            <a:ext cx="2743200" cy="438912"/>
          </a:xfrm>
          <a:prstGeom prst="rect">
            <a:avLst/>
          </a:prstGeom>
          <a:solidFill>
            <a:srgbClr val="F0FFF4"/>
          </a:solidFill>
          <a:ln w="12700">
            <a:solidFill>
              <a:srgbClr val="AADDA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0" name="Text 47"/>
          <p:cNvSpPr/>
          <p:nvPr/>
        </p:nvSpPr>
        <p:spPr>
          <a:xfrm>
            <a:off x="6035040" y="45902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Si, i punti si accumulano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"/>
          <p:cNvSpPr/>
          <p:nvPr/>
        </p:nvSpPr>
        <p:spPr>
          <a:xfrm>
            <a:off x="304800" y="228600"/>
            <a:ext cx="8534400" cy="685800"/>
          </a:xfrm>
          <a:prstGeom prst="rect">
            <a:avLst/>
          </a:prstGeom>
          <a:noFill/>
        </p:spPr>
        <p:txBody>
          <a:bodyPr/>
          <a:lstStyle/>
          <a:p>
            <a:r>
              <a:rPr lang="it-IT" sz="3200" b="1" dirty="0">
                <a:solidFill>
                  <a:srgbClr val="FFFFFF"/>
                </a:solidFill>
                <a:latin typeface="Arial"/>
              </a:rPr>
              <a:t>HAI ESAURITO I PUNTI?</a:t>
            </a:r>
          </a:p>
          <a:p>
            <a:r>
              <a:rPr lang="it-IT" sz="1800" b="1" dirty="0">
                <a:solidFill>
                  <a:srgbClr val="F57C00"/>
                </a:solidFill>
                <a:latin typeface="Arial"/>
              </a:rPr>
              <a:t>Ricarica il tuo saldo e non perdere nessuna opportunità.</a:t>
            </a:r>
          </a:p>
        </p:txBody>
      </p:sp>
      <p:sp>
        <p:nvSpPr>
          <p:cNvPr id="3" name="ColSxTitle"/>
          <p:cNvSpPr/>
          <p:nvPr/>
        </p:nvSpPr>
        <p:spPr>
          <a:xfrm>
            <a:off x="304800" y="1143000"/>
            <a:ext cx="4191000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it-IT" sz="1400" b="1" dirty="0">
                <a:solidFill>
                  <a:srgbClr val="F57C00"/>
                </a:solidFill>
                <a:latin typeface="Arial"/>
              </a:rPr>
              <a:t>COME FUNZIONA</a:t>
            </a:r>
          </a:p>
        </p:txBody>
      </p:sp>
      <p:sp>
        <p:nvSpPr>
          <p:cNvPr id="4" name="Step1"/>
          <p:cNvSpPr/>
          <p:nvPr/>
        </p:nvSpPr>
        <p:spPr>
          <a:xfrm>
            <a:off x="304800" y="1524000"/>
            <a:ext cx="4191000" cy="685800"/>
          </a:xfrm>
          <a:prstGeom prst="rect">
            <a:avLst/>
          </a:prstGeom>
          <a:solidFill>
            <a:srgbClr val="243B6E"/>
          </a:solidFill>
          <a:ln>
            <a:noFill/>
          </a:ln>
        </p:spPr>
        <p:txBody>
          <a:bodyPr/>
          <a:lstStyle/>
          <a:p>
            <a:r>
              <a:rPr lang="it-IT" sz="1300" b="1" dirty="0">
                <a:solidFill>
                  <a:srgbClr val="F57C00"/>
                </a:solidFill>
                <a:latin typeface="Arial"/>
              </a:rPr>
              <a:t>1   Scegli il pacchetto</a:t>
            </a:r>
          </a:p>
          <a:p>
            <a:r>
              <a:rPr lang="it-IT" sz="1100" dirty="0">
                <a:solidFill>
                  <a:srgbClr val="C8D8F0"/>
                </a:solidFill>
                <a:latin typeface="Arial"/>
              </a:rPr>
              <a:t>50 pt / 100 pt / 200 pt oppure importo libero.</a:t>
            </a:r>
          </a:p>
        </p:txBody>
      </p:sp>
      <p:sp>
        <p:nvSpPr>
          <p:cNvPr id="5" name="Step2"/>
          <p:cNvSpPr/>
          <p:nvPr/>
        </p:nvSpPr>
        <p:spPr>
          <a:xfrm>
            <a:off x="304800" y="2285400"/>
            <a:ext cx="4191000" cy="685800"/>
          </a:xfrm>
          <a:prstGeom prst="rect">
            <a:avLst/>
          </a:prstGeom>
          <a:solidFill>
            <a:srgbClr val="243B6E"/>
          </a:solidFill>
          <a:ln>
            <a:noFill/>
          </a:ln>
        </p:spPr>
        <p:txBody>
          <a:bodyPr/>
          <a:lstStyle/>
          <a:p>
            <a:r>
              <a:rPr lang="it-IT" sz="1300" b="1" dirty="0">
                <a:solidFill>
                  <a:srgbClr val="F57C00"/>
                </a:solidFill>
                <a:latin typeface="Arial"/>
              </a:rPr>
              <a:t>2   Invia la richiesta</a:t>
            </a:r>
          </a:p>
          <a:p>
            <a:r>
              <a:rPr lang="it-IT" sz="1100" dirty="0">
                <a:solidFill>
                  <a:srgbClr val="C8D8F0"/>
                </a:solidFill>
                <a:latin typeface="Arial"/>
              </a:rPr>
              <a:t>Dalla tua area personale su virtusfanmolfetta.com.</a:t>
            </a:r>
          </a:p>
        </p:txBody>
      </p:sp>
      <p:sp>
        <p:nvSpPr>
          <p:cNvPr id="6" name="Step3"/>
          <p:cNvSpPr/>
          <p:nvPr/>
        </p:nvSpPr>
        <p:spPr>
          <a:xfrm>
            <a:off x="304800" y="3046800"/>
            <a:ext cx="4191000" cy="685800"/>
          </a:xfrm>
          <a:prstGeom prst="rect">
            <a:avLst/>
          </a:prstGeom>
          <a:solidFill>
            <a:srgbClr val="243B6E"/>
          </a:solidFill>
          <a:ln>
            <a:noFill/>
          </a:ln>
        </p:spPr>
        <p:txBody>
          <a:bodyPr/>
          <a:lstStyle/>
          <a:p>
            <a:r>
              <a:rPr lang="it-IT" sz="1300" b="1" dirty="0">
                <a:solidFill>
                  <a:srgbClr val="F57C00"/>
                </a:solidFill>
                <a:latin typeface="Arial"/>
              </a:rPr>
              <a:t>3   Effettua il pagamento</a:t>
            </a:r>
          </a:p>
          <a:p>
            <a:r>
              <a:rPr lang="it-IT" sz="1100" dirty="0">
                <a:solidFill>
                  <a:srgbClr val="C8D8F0"/>
                </a:solidFill>
                <a:latin typeface="Arial"/>
              </a:rPr>
              <a:t>In contanti o POS presso la sede. Online prossimamente.</a:t>
            </a:r>
          </a:p>
        </p:txBody>
      </p:sp>
      <p:sp>
        <p:nvSpPr>
          <p:cNvPr id="7" name="Step4"/>
          <p:cNvSpPr/>
          <p:nvPr/>
        </p:nvSpPr>
        <p:spPr>
          <a:xfrm>
            <a:off x="304800" y="3808200"/>
            <a:ext cx="4191000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r>
              <a:rPr lang="it-IT" sz="1300" b="1" dirty="0">
                <a:solidFill>
                  <a:srgbClr val="FFFFFF"/>
                </a:solidFill>
                <a:latin typeface="Arial"/>
              </a:rPr>
              <a:t>4   Punti accreditati!</a:t>
            </a:r>
          </a:p>
          <a:p>
            <a:r>
              <a:rPr lang="it-IT" sz="1100" dirty="0">
                <a:solidFill>
                  <a:srgbClr val="A5D6A7"/>
                </a:solidFill>
                <a:latin typeface="Arial"/>
              </a:rPr>
              <a:t>Il saldo è aggiornato e puoi subito riscattare premi.</a:t>
            </a:r>
          </a:p>
        </p:txBody>
      </p:sp>
      <p:sp>
        <p:nvSpPr>
          <p:cNvPr id="8" name="ColDxTitle"/>
          <p:cNvSpPr/>
          <p:nvPr/>
        </p:nvSpPr>
        <p:spPr>
          <a:xfrm>
            <a:off x="4876200" y="1143000"/>
            <a:ext cx="3962400" cy="304800"/>
          </a:xfrm>
          <a:prstGeom prst="rect">
            <a:avLst/>
          </a:prstGeom>
          <a:noFill/>
        </p:spPr>
        <p:txBody>
          <a:bodyPr/>
          <a:lstStyle/>
          <a:p>
            <a:r>
              <a:rPr lang="it-IT" sz="1400" b="1" dirty="0">
                <a:solidFill>
                  <a:srgbClr val="F57C00"/>
                </a:solidFill>
                <a:latin typeface="Arial"/>
              </a:rPr>
              <a:t>PERCHÉ CONVIENE</a:t>
            </a:r>
          </a:p>
        </p:txBody>
      </p:sp>
      <p:sp>
        <p:nvSpPr>
          <p:cNvPr id="9" name="Ben1"/>
          <p:cNvSpPr/>
          <p:nvPr/>
        </p:nvSpPr>
        <p:spPr>
          <a:xfrm>
            <a:off x="4876200" y="1524000"/>
            <a:ext cx="3962400" cy="685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/>
          <a:lstStyle/>
          <a:p>
            <a:r>
              <a:rPr lang="it-IT" sz="1300" b="1" dirty="0">
                <a:solidFill>
                  <a:srgbClr val="FFFFFF"/>
                </a:solidFill>
                <a:latin typeface="Arial"/>
              </a:rPr>
              <a:t>🎁 Non perdi nessun premio</a:t>
            </a:r>
          </a:p>
          <a:p>
            <a:r>
              <a:rPr lang="it-IT" sz="1100" dirty="0">
                <a:solidFill>
                  <a:srgbClr val="FFD0A0"/>
                </a:solidFill>
                <a:latin typeface="Arial"/>
              </a:rPr>
              <a:t>Se ti mancano pochi punti, ricarichi e riscatti subito.</a:t>
            </a:r>
          </a:p>
        </p:txBody>
      </p:sp>
      <p:sp>
        <p:nvSpPr>
          <p:cNvPr id="10" name="Ben2"/>
          <p:cNvSpPr/>
          <p:nvPr/>
        </p:nvSpPr>
        <p:spPr>
          <a:xfrm>
            <a:off x="4876200" y="2285400"/>
            <a:ext cx="3962400" cy="685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/>
          <a:lstStyle/>
          <a:p>
            <a:r>
              <a:rPr lang="it-IT" sz="1300" b="1" dirty="0">
                <a:solidFill>
                  <a:srgbClr val="FFFFFF"/>
                </a:solidFill>
                <a:latin typeface="Arial"/>
              </a:rPr>
              <a:t>🔥 Approfitta delle promozioni</a:t>
            </a:r>
          </a:p>
          <a:p>
            <a:r>
              <a:rPr lang="it-IT" sz="1100" dirty="0">
                <a:solidFill>
                  <a:srgbClr val="FFD0A0"/>
                </a:solidFill>
                <a:latin typeface="Arial"/>
              </a:rPr>
              <a:t>Quando il tasso pt/€ è aumentato, ogni euro vale di più.</a:t>
            </a:r>
          </a:p>
        </p:txBody>
      </p:sp>
      <p:sp>
        <p:nvSpPr>
          <p:cNvPr id="11" name="Ben3"/>
          <p:cNvSpPr/>
          <p:nvPr/>
        </p:nvSpPr>
        <p:spPr>
          <a:xfrm>
            <a:off x="4876200" y="3046800"/>
            <a:ext cx="3962400" cy="685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txBody>
          <a:bodyPr/>
          <a:lstStyle/>
          <a:p>
            <a:r>
              <a:rPr lang="it-IT" sz="1300" b="1" dirty="0">
                <a:solidFill>
                  <a:srgbClr val="FFFFFF"/>
                </a:solidFill>
                <a:latin typeface="Arial"/>
              </a:rPr>
              <a:t>✨ Sostieni la squadra</a:t>
            </a:r>
          </a:p>
          <a:p>
            <a:r>
              <a:rPr lang="it-IT" sz="1100" dirty="0">
                <a:solidFill>
                  <a:srgbClr val="FFD0A0"/>
                </a:solidFill>
                <a:latin typeface="Arial"/>
              </a:rPr>
              <a:t>Il tuo contributo va direttamente alla Virtus Basket Molfetta.</a:t>
            </a:r>
          </a:p>
        </p:txBody>
      </p:sp>
      <p:sp>
        <p:nvSpPr>
          <p:cNvPr id="12" name="Ben4"/>
          <p:cNvSpPr/>
          <p:nvPr/>
        </p:nvSpPr>
        <p:spPr>
          <a:xfrm>
            <a:off x="4876200" y="3808200"/>
            <a:ext cx="3962400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/>
          <a:lstStyle/>
          <a:p>
            <a:r>
              <a:rPr lang="it-IT" sz="1300" b="1" dirty="0">
                <a:solidFill>
                  <a:srgbClr val="FFFFFF"/>
                </a:solidFill>
                <a:latin typeface="Arial"/>
              </a:rPr>
              <a:t>📍 Spendi nel territorio</a:t>
            </a:r>
          </a:p>
          <a:p>
            <a:r>
              <a:rPr lang="it-IT" sz="1100" dirty="0">
                <a:solidFill>
                  <a:srgbClr val="A5D6A7"/>
                </a:solidFill>
                <a:latin typeface="Arial"/>
              </a:rPr>
              <a:t>I punti si usano nei negozi locali. Bene per te e per Molfetta.</a:t>
            </a:r>
          </a:p>
        </p:txBody>
      </p:sp>
      <p:sp>
        <p:nvSpPr>
          <p:cNvPr id="13" name="Footer"/>
          <p:cNvSpPr/>
          <p:nvPr/>
        </p:nvSpPr>
        <p:spPr>
          <a:xfrm>
            <a:off x="304800" y="4876800"/>
            <a:ext cx="8534400" cy="22860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lang="it-IT" sz="1000" dirty="0">
                <a:solidFill>
                  <a:srgbClr val="7090C0"/>
                </a:solidFill>
                <a:latin typeface="Arial"/>
              </a:rPr>
              <a:t>Ricarica dalla tua area personale su virtusfanmolfetta.com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1565C0">
              <a:alpha val="32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7315200" y="1371600"/>
            <a:ext cx="2743200" cy="2743200"/>
          </a:xfrm>
          <a:prstGeom prst="ellipse">
            <a:avLst/>
          </a:prstGeom>
          <a:solidFill>
            <a:srgbClr val="F57C00">
              <a:alpha val="22000"/>
            </a:srgbClr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-2286000" y="2743200"/>
            <a:ext cx="4572000" cy="45720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11480"/>
            <a:ext cx="1828800" cy="182880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2331720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8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SEI PRONTO A</a:t>
            </a:r>
            <a:endParaRPr lang="en-US" sz="4200" dirty="0"/>
          </a:p>
          <a:p>
            <a:pPr marL="0" indent="0">
              <a:lnSpc>
                <a:spcPct val="8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ENTRARE</a:t>
            </a:r>
            <a:endParaRPr lang="en-US" sz="4200" dirty="0"/>
          </a:p>
          <a:p>
            <a:pPr marL="0" indent="0">
              <a:lnSpc>
                <a:spcPct val="8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NELLA FAMIGLIA?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365760" y="4297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Registrati su virtusfanmolfetta.com e scegli il tuo livello.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82880" y="4709160"/>
            <a:ext cx="2057400" cy="384048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182880" y="470916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— gratuito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331720" y="4709160"/>
            <a:ext cx="2057400" cy="384048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2331720" y="470916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BRONZE — EUR 30/anno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480560" y="4709160"/>
            <a:ext cx="2057400" cy="384048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4480560" y="470916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SILVER — EUR 50/anno</a:t>
            </a:r>
            <a:endParaRPr lang="en-US" sz="1100" dirty="0"/>
          </a:p>
        </p:txBody>
      </p:sp>
      <p:sp>
        <p:nvSpPr>
          <p:cNvPr id="20" name="Shape GOLD"/>
          <p:cNvSpPr/>
          <p:nvPr/>
        </p:nvSpPr>
        <p:spPr>
          <a:xfrm>
            <a:off x="6629400" y="4709160"/>
            <a:ext cx="2057400" cy="384048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GOLD"/>
          <p:cNvSpPr/>
          <p:nvPr/>
        </p:nvSpPr>
        <p:spPr>
          <a:xfrm>
            <a:off x="6629400" y="470916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A82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GOLD — EUR 100/anno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969</Words>
  <Application>Microsoft Office PowerPoint</Application>
  <PresentationFormat>Presentazione su schermo (16:9)</PresentationFormat>
  <Paragraphs>202</Paragraphs>
  <Slides>11</Slides>
  <Notes>10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4" baseType="lpstr">
      <vt:lpstr>Arial</vt:lpstr>
      <vt:lpstr>Trebuchet MS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Virtus Fan Card — Per i Tifosi</dc:title>
  <dc:subject>PptxGenJS Presentation</dc:subject>
  <dc:creator>Nuova Virtus Basket Molfetta</dc:creator>
  <cp:lastModifiedBy>Nicolò de ROBERTIS</cp:lastModifiedBy>
  <cp:revision>6</cp:revision>
  <dcterms:created xsi:type="dcterms:W3CDTF">2026-06-06T15:01:02Z</dcterms:created>
  <dcterms:modified xsi:type="dcterms:W3CDTF">2026-06-17T07:43:41Z</dcterms:modified>
</cp:coreProperties>
</file>