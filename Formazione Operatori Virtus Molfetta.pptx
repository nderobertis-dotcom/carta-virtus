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6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7124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Benvenuti. Questo corso vi guiderà dall'iscrizione alla Fan Card fino alle operazioni di chiusura gara. Circa 45 minuti con Q&amp;A finale.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Fan Card è 100% digitale. Non esistono tessere fisiche. Se un tifoso dice di aver dimenticato lo smartphone, non può entrare senza il QR — indirizzatelo al banchetto della società.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Dedicate 10 minuti all'installazione tutti insieme adesso. Se qualcuno ha problemi, un collega può aiutarlo. L'app NON va scaricata dall'App Store o Google Play — è una webapp.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Questa è la mappa generale. Nelle slide successive approfondiremo ogni accesso con chi deve stare dove e cosa controllare.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L'Accesso A è quello più rappresentativo. I tifosi Gold e VIP si aspettano un trattamento preferenziale. Se qualcuno con Fan Card Silver si presenta qui, scusarsi e indirizzarlo all'Accesso D educatamente.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Accesso B è il più trafficato — assegnare gli operatori più esperti qui. Ricordare che il Disability porta un accompagnatore: scansionare il QR una volta sola, il sistema conta 2 ingressi automaticamente.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All'Accesso E è importante avere la lista FIP stampata o su tablet. Il cancello deve chiudere tassativamente 45 minuti prima — non ci sono deroghe, neanche per ritardatari noti.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Ricordare agli operatori che dopo il secondo quarto non è più necessario presidiare attivamente i cancelli, ma non abbandonare il posto senza autorizzazione del responsabile gara.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scanner funziona anche senza connessione dati dopo la sincronizzazione iniziale. Se il telefono è scarico o la webapp non si apre, chiamare immediatamente il responsabile gara.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numeri di operatori sono indicativi e possono variare in base all'affluenza attesa e alle disposizioni di sicurezza. Il responsabile gara ha l'ultima parola sull'assegnazione.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Suggerire agli operatori di fare uno screenshot di questa slide e salvarla nella galleria per averla sempre a disposizione il giorno della gara.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Ringraziare gli operatori per la disponibilità. Ricordare di testare la webapp tutti insieme prima di partire. Q&amp;A finale — raccogliere eventuali dubbi.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kern="0" spc="200" dirty="0">
                <a:solidFill>
                  <a:srgbClr val="C9A84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VIRTUS MOLFETTA · PALAPOLI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1214120"/>
            <a:ext cx="10883392" cy="1447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5600" b="1" dirty="0">
                <a:solidFill>
                  <a:srgbClr val="F5F5F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Formazione</a:t>
            </a:r>
            <a:endParaRPr lang="en-US" sz="5600" dirty="0"/>
          </a:p>
          <a:p>
            <a:pPr marL="0" indent="0" algn="l">
              <a:lnSpc>
                <a:spcPts val="5600"/>
              </a:lnSpc>
              <a:buNone/>
            </a:pPr>
            <a:r>
              <a:rPr lang="en-US" sz="5600" b="1" dirty="0">
                <a:solidFill>
                  <a:srgbClr val="F5F5F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Operatori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12800" y="2788920"/>
            <a:ext cx="10883392" cy="69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dirty="0">
                <a:solidFill>
                  <a:srgbClr val="A8C4E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Accessi alle gare casalinghe</a:t>
            </a:r>
            <a:endParaRPr lang="en-US" sz="2200" dirty="0"/>
          </a:p>
          <a:p>
            <a:pPr marL="0" indent="0" algn="l">
              <a:lnSpc>
                <a:spcPts val="2640"/>
              </a:lnSpc>
              <a:buNone/>
            </a:pPr>
            <a:r>
              <a:rPr lang="en-US" sz="2200" dirty="0" err="1">
                <a:solidFill>
                  <a:srgbClr val="A8C4E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Stagione</a:t>
            </a:r>
            <a:r>
              <a:rPr lang="en-US" sz="2200" dirty="0">
                <a:solidFill>
                  <a:srgbClr val="A8C4E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2026 / 2027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12800" y="5923280"/>
            <a:ext cx="8791046" cy="12700"/>
          </a:xfrm>
          <a:prstGeom prst="rect">
            <a:avLst/>
          </a:prstGeom>
          <a:solidFill>
            <a:srgbClr val="C9A84C">
              <a:alpha val="60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812800" y="5648811"/>
            <a:ext cx="1521354" cy="2565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A8C4E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01 </a:t>
            </a:r>
            <a:r>
              <a:rPr lang="en-US" sz="1300" dirty="0" err="1">
                <a:solidFill>
                  <a:srgbClr val="A8C4E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ottobre</a:t>
            </a:r>
            <a:r>
              <a:rPr lang="en-US" sz="1300" dirty="0">
                <a:solidFill>
                  <a:srgbClr val="A8C4E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2026</a:t>
            </a:r>
            <a:endParaRPr lang="en-US" sz="1300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CB3B22F1-D144-6F69-883E-71F4F0BEF0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718073"/>
            <a:ext cx="4531360" cy="4531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kern="0" spc="150" dirty="0">
                <a:solidFill>
                  <a:srgbClr val="C9A84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IL SISTEMA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12800" y="1008380"/>
            <a:ext cx="1088339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4000" b="1" dirty="0">
                <a:solidFill>
                  <a:srgbClr val="0D2A5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Cos'è la Fan Card?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12800" y="1821180"/>
            <a:ext cx="5486400" cy="4020820"/>
          </a:xfrm>
          <a:prstGeom prst="roundRect">
            <a:avLst>
              <a:gd name="adj" fmla="val 2527"/>
            </a:avLst>
          </a:prstGeom>
          <a:solidFill>
            <a:srgbClr val="0D2A5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1117600" y="2125980"/>
            <a:ext cx="5023104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50" dirty="0">
                <a:solidFill>
                  <a:srgbClr val="C9A84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COS'È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17600" y="2458720"/>
            <a:ext cx="5023104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5F5F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Un abbonamento stagionale digitale che dà accesso alle gare casalinghe di Virtus Molfetta.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17600" y="3093720"/>
            <a:ext cx="502310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A8C4E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Acquistabile su </a:t>
            </a:r>
            <a:r>
              <a:rPr lang="en-US" sz="1300" b="1" dirty="0">
                <a:solidFill>
                  <a:srgbClr val="A8C4E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virtusfanmolfetta.com</a:t>
            </a:r>
            <a:r>
              <a:rPr lang="en-US" sz="1300" dirty="0">
                <a:solidFill>
                  <a:srgbClr val="A8C4E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— niente tessera fisica, tutto sullo smartphone.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02400" y="1821180"/>
            <a:ext cx="4876800" cy="2804160"/>
          </a:xfrm>
          <a:prstGeom prst="roundRect">
            <a:avLst>
              <a:gd name="adj" fmla="val 3623"/>
            </a:avLst>
          </a:prstGeom>
          <a:solidFill>
            <a:srgbClr val="0D2A5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6731000" y="2049780"/>
            <a:ext cx="4552188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C9A84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TIPOLOGIE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731000" y="2245360"/>
            <a:ext cx="45521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163068" algn="l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F5F5F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🏆 VIP</a:t>
            </a:r>
            <a:endParaRPr lang="en-US" sz="1400" dirty="0"/>
          </a:p>
          <a:p>
            <a:pPr marL="213360" indent="-163068" algn="l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F5F5F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🥇 Gold</a:t>
            </a:r>
            <a:endParaRPr lang="en-US" sz="1400" dirty="0"/>
          </a:p>
          <a:p>
            <a:pPr marL="213360" indent="-163068" algn="l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F5F5F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🥈 Silver</a:t>
            </a:r>
            <a:endParaRPr lang="en-US" sz="1400" dirty="0"/>
          </a:p>
          <a:p>
            <a:pPr marL="213360" indent="-163068" algn="l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F5F5F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🥉 Bronze · Base</a:t>
            </a:r>
            <a:endParaRPr lang="en-US" sz="1400" dirty="0"/>
          </a:p>
          <a:p>
            <a:pPr marL="213360" indent="-163068" algn="l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F5F5F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🎫 Cortesia · Disability · Servizio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502400" y="4726940"/>
            <a:ext cx="4876800" cy="1115060"/>
          </a:xfrm>
          <a:prstGeom prst="roundRect">
            <a:avLst>
              <a:gd name="adj" fmla="val 9112"/>
            </a:avLst>
          </a:prstGeom>
          <a:solidFill>
            <a:srgbClr val="C9A84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6731000" y="4955540"/>
            <a:ext cx="4552188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0D2A5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COME FUNZIONA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731000" y="5151120"/>
            <a:ext cx="4552188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0D2A5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L'utente mostra il </a:t>
            </a:r>
            <a:r>
              <a:rPr lang="en-US" sz="1300" b="1" dirty="0">
                <a:solidFill>
                  <a:srgbClr val="0D2A5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QR code</a:t>
            </a:r>
            <a:r>
              <a:rPr lang="en-US" sz="1300" dirty="0">
                <a:solidFill>
                  <a:srgbClr val="0D2A5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dalla webapp al cancello. L'operatore lo scansiona con il proprio smartphone.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2800" y="6238239"/>
            <a:ext cx="164242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A8A8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virtusfanmolfetta.com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kern="0" spc="150" dirty="0">
                <a:solidFill>
                  <a:srgbClr val="C9A84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PRIMA DI TUTTO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12800" y="1008380"/>
            <a:ext cx="10883392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800" b="1" dirty="0">
                <a:solidFill>
                  <a:srgbClr val="0D2A5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Installa la webapp</a:t>
            </a:r>
            <a:endParaRPr lang="en-US" sz="3800" dirty="0"/>
          </a:p>
          <a:p>
            <a:pPr marL="0" indent="0" algn="l">
              <a:lnSpc>
                <a:spcPts val="3800"/>
              </a:lnSpc>
              <a:buNone/>
            </a:pPr>
            <a:r>
              <a:rPr lang="en-US" sz="3800" b="1" dirty="0">
                <a:solidFill>
                  <a:srgbClr val="0D2A5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sul tuo telefono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12800" y="2227580"/>
            <a:ext cx="7772400" cy="753851"/>
          </a:xfrm>
          <a:prstGeom prst="roundRect">
            <a:avLst>
              <a:gd name="adj" fmla="val 13477"/>
            </a:avLst>
          </a:prstGeom>
          <a:solidFill>
            <a:srgbClr val="0D2A5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1066800" y="237595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9A84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1251373" y="2444538"/>
            <a:ext cx="138853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0D2A5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76400" y="2373418"/>
            <a:ext cx="25291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5F5F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Apri il browser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76400" y="2622338"/>
            <a:ext cx="252910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8C4E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Chrome (Android) o Safari (iPhone)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12800" y="3133830"/>
            <a:ext cx="7772400" cy="782214"/>
          </a:xfrm>
          <a:prstGeom prst="roundRect">
            <a:avLst>
              <a:gd name="adj" fmla="val 12989"/>
            </a:avLst>
          </a:prstGeom>
          <a:solidFill>
            <a:srgbClr val="0D2A5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1066800" y="3296391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9A84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1236663" y="3364971"/>
            <a:ext cx="168275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0D2A5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76400" y="3267180"/>
            <a:ext cx="22403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5F5F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Vai all'indirizzo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76400" y="3516100"/>
            <a:ext cx="2240339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C9A84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virtusfanmolfetta.com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12800" y="4068445"/>
            <a:ext cx="7772400" cy="867304"/>
          </a:xfrm>
          <a:prstGeom prst="roundRect">
            <a:avLst>
              <a:gd name="adj" fmla="val 11714"/>
            </a:avLst>
          </a:prstGeom>
          <a:solidFill>
            <a:srgbClr val="0D2A5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1066800" y="427355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9A84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1236663" y="4342130"/>
            <a:ext cx="168275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0D2A5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76400" y="4164330"/>
            <a:ext cx="380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5F5F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Aggiungi alla schermata Home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76400" y="4413250"/>
            <a:ext cx="380144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8C4E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📱 iPhone: Condividi → "Aggiungi a Home"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8C4E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🤖 Android: Menu ⋮ → "Aggiungi a schermata Home"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2800" y="5088150"/>
            <a:ext cx="7772400" cy="753851"/>
          </a:xfrm>
          <a:prstGeom prst="roundRect">
            <a:avLst>
              <a:gd name="adj" fmla="val 13477"/>
            </a:avLst>
          </a:prstGeom>
          <a:solidFill>
            <a:srgbClr val="0D2A5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0" name="Shape 18"/>
          <p:cNvSpPr/>
          <p:nvPr/>
        </p:nvSpPr>
        <p:spPr>
          <a:xfrm>
            <a:off x="1066800" y="5236527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9A84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1235498" y="5305107"/>
            <a:ext cx="170603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0D2A5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676400" y="5233988"/>
            <a:ext cx="32949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5F5F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Accedi come Operatore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676400" y="5482907"/>
            <a:ext cx="329499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8C4E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Le credenziali ti vengono fornite dalla società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839200" y="2227580"/>
            <a:ext cx="2540000" cy="3614420"/>
          </a:xfrm>
          <a:prstGeom prst="roundRect">
            <a:avLst>
              <a:gd name="adj" fmla="val 4000"/>
            </a:avLst>
          </a:prstGeom>
          <a:solidFill>
            <a:srgbClr val="0D2A5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9481926" y="2767330"/>
            <a:ext cx="125444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C9A84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RISULTATO FINALE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220200" y="3082289"/>
            <a:ext cx="1778000" cy="1727200"/>
          </a:xfrm>
          <a:prstGeom prst="roundRect">
            <a:avLst>
              <a:gd name="adj" fmla="val 4412"/>
            </a:avLst>
          </a:prstGeom>
          <a:solidFill>
            <a:srgbClr val="1A3A7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7" name="Shape 25"/>
          <p:cNvSpPr/>
          <p:nvPr/>
        </p:nvSpPr>
        <p:spPr>
          <a:xfrm>
            <a:off x="9423400" y="3285489"/>
            <a:ext cx="1371600" cy="558800"/>
          </a:xfrm>
          <a:prstGeom prst="roundRect">
            <a:avLst>
              <a:gd name="adj" fmla="val 9091"/>
            </a:avLst>
          </a:prstGeom>
          <a:solidFill>
            <a:srgbClr val="C9A84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9499600" y="3387089"/>
            <a:ext cx="121920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0D2A5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VIRTUS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499600" y="3582670"/>
            <a:ext cx="1219200" cy="18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0D2A5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Carta Operatore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398000" y="3844289"/>
            <a:ext cx="14224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00" dirty="0">
                <a:solidFill>
                  <a:srgbClr val="A8C4E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Icona sulla</a:t>
            </a:r>
            <a:endParaRPr lang="en-US" sz="10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000" dirty="0">
                <a:solidFill>
                  <a:srgbClr val="A8C4E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schermata Home</a:t>
            </a:r>
            <a:endParaRPr lang="en-US" sz="10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000" dirty="0">
                <a:solidFill>
                  <a:srgbClr val="A8C4E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con accesso diretto</a:t>
            </a:r>
            <a:endParaRPr lang="en-US" sz="10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000" dirty="0">
                <a:solidFill>
                  <a:srgbClr val="A8C4E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allo scanner QR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381807" y="4911089"/>
            <a:ext cx="1454785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40"/>
              </a:lnSpc>
              <a:buNone/>
            </a:pPr>
            <a:r>
              <a:rPr lang="en-US" sz="1100" dirty="0">
                <a:solidFill>
                  <a:srgbClr val="F5F5F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Funziona offline</a:t>
            </a:r>
            <a:endParaRPr lang="en-US" sz="1100" dirty="0"/>
          </a:p>
          <a:p>
            <a:pPr marL="0" indent="0" algn="ctr">
              <a:lnSpc>
                <a:spcPts val="1540"/>
              </a:lnSpc>
              <a:buNone/>
            </a:pPr>
            <a:r>
              <a:rPr lang="en-US" sz="1100" dirty="0">
                <a:solidFill>
                  <a:srgbClr val="F5F5F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dopo il primo accesso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12800" y="6238239"/>
            <a:ext cx="411680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A8A8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Installazione — passaggi da completare PRIMA della gara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2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kern="0" spc="150" dirty="0">
                <a:solidFill>
                  <a:srgbClr val="C9A84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PALAPOLI — PANORAMICA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12800" y="1008380"/>
            <a:ext cx="10883392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800" b="1" dirty="0">
                <a:solidFill>
                  <a:srgbClr val="F5F5F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6 accessi, 6 ruoli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19150" y="1751330"/>
            <a:ext cx="3407833" cy="2057400"/>
          </a:xfrm>
          <a:prstGeom prst="roundRect">
            <a:avLst>
              <a:gd name="adj" fmla="val 4012"/>
            </a:avLst>
          </a:prstGeom>
          <a:solidFill>
            <a:srgbClr val="1A3A70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1028700" y="1960880"/>
            <a:ext cx="355600" cy="355600"/>
          </a:xfrm>
          <a:prstGeom prst="roundRect">
            <a:avLst>
              <a:gd name="adj" fmla="val 14286"/>
            </a:avLst>
          </a:prstGeom>
          <a:solidFill>
            <a:srgbClr val="C9A84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1150514" y="1996439"/>
            <a:ext cx="16277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0D2A5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85900" y="2032000"/>
            <a:ext cx="118967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9A84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Dal parcheggio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28700" y="2316480"/>
            <a:ext cx="3078395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A8C4E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Fan Card </a:t>
            </a:r>
            <a:r>
              <a:rPr lang="en-US" sz="1100" b="1" dirty="0">
                <a:solidFill>
                  <a:srgbClr val="A8C4E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VIP · Gold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28700" y="2512061"/>
            <a:ext cx="3078395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6A8AB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→ Ospitality · Tribuna A/B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5733" y="1744980"/>
            <a:ext cx="3420533" cy="2070100"/>
          </a:xfrm>
          <a:prstGeom prst="roundRect">
            <a:avLst>
              <a:gd name="adj" fmla="val 4294"/>
            </a:avLst>
          </a:prstGeom>
          <a:solidFill>
            <a:srgbClr val="1A3A7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4588933" y="1948180"/>
            <a:ext cx="355600" cy="355600"/>
          </a:xfrm>
          <a:prstGeom prst="roundRect">
            <a:avLst>
              <a:gd name="adj" fmla="val 14286"/>
            </a:avLst>
          </a:prstGeom>
          <a:solidFill>
            <a:srgbClr val="4A7AB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4706938" y="1983739"/>
            <a:ext cx="170286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5F5F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B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46133" y="2019300"/>
            <a:ext cx="132471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5F5F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Porta lato Bar (1)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88933" y="2303780"/>
            <a:ext cx="3104557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A8C4E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Fan Card </a:t>
            </a:r>
            <a:r>
              <a:rPr lang="en-US" sz="1100" b="1" dirty="0">
                <a:solidFill>
                  <a:srgbClr val="A8C4E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Base · Bronze · Cortesia · Disability · Servizio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88933" y="2694939"/>
            <a:ext cx="3104557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6A8AB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→ Settore Generale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958667" y="1744980"/>
            <a:ext cx="3420533" cy="2070100"/>
          </a:xfrm>
          <a:prstGeom prst="roundRect">
            <a:avLst>
              <a:gd name="adj" fmla="val 4294"/>
            </a:avLst>
          </a:prstGeom>
          <a:solidFill>
            <a:srgbClr val="1A3A7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8161867" y="1948180"/>
            <a:ext cx="355600" cy="355600"/>
          </a:xfrm>
          <a:prstGeom prst="roundRect">
            <a:avLst>
              <a:gd name="adj" fmla="val 14286"/>
            </a:avLst>
          </a:prstGeom>
          <a:solidFill>
            <a:srgbClr val="4A7AB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8282411" y="1983739"/>
            <a:ext cx="165206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5F5F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19067" y="2019300"/>
            <a:ext cx="135075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5F5F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Porta lato Bar (2)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61867" y="2303780"/>
            <a:ext cx="3104557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A8C4E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Biglietti singoli</a:t>
            </a:r>
            <a:r>
              <a:rPr lang="en-US" sz="1100" dirty="0">
                <a:solidFill>
                  <a:srgbClr val="A8C4E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+ Accrediti stampa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161867" y="2499361"/>
            <a:ext cx="3104557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6A8AB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→ Settore Gen. · Area Accreditati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2800" y="3967480"/>
            <a:ext cx="3420533" cy="1874520"/>
          </a:xfrm>
          <a:prstGeom prst="roundRect">
            <a:avLst>
              <a:gd name="adj" fmla="val 4743"/>
            </a:avLst>
          </a:prstGeom>
          <a:solidFill>
            <a:srgbClr val="1A3A7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3" name="Shape 21"/>
          <p:cNvSpPr/>
          <p:nvPr/>
        </p:nvSpPr>
        <p:spPr>
          <a:xfrm>
            <a:off x="1016000" y="4170680"/>
            <a:ext cx="355600" cy="355600"/>
          </a:xfrm>
          <a:prstGeom prst="roundRect">
            <a:avLst>
              <a:gd name="adj" fmla="val 14286"/>
            </a:avLst>
          </a:prstGeom>
          <a:solidFill>
            <a:srgbClr val="4A7AB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1134216" y="4206239"/>
            <a:ext cx="169863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5F5F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473200" y="4241800"/>
            <a:ext cx="143076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5F5F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Porta opposta Bar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16000" y="4526280"/>
            <a:ext cx="3104557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A8C4E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Fan Card </a:t>
            </a:r>
            <a:r>
              <a:rPr lang="en-US" sz="1100" b="1" dirty="0">
                <a:solidFill>
                  <a:srgbClr val="A8C4E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Silver · Gold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16000" y="4721861"/>
            <a:ext cx="3104557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6A8AB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→ Tribune Numerate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385733" y="3967480"/>
            <a:ext cx="3420533" cy="1874520"/>
          </a:xfrm>
          <a:prstGeom prst="roundRect">
            <a:avLst>
              <a:gd name="adj" fmla="val 4743"/>
            </a:avLst>
          </a:prstGeom>
          <a:solidFill>
            <a:srgbClr val="1A3A7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9" name="Shape 27"/>
          <p:cNvSpPr/>
          <p:nvPr/>
        </p:nvSpPr>
        <p:spPr>
          <a:xfrm>
            <a:off x="4588933" y="4170680"/>
            <a:ext cx="355600" cy="355600"/>
          </a:xfrm>
          <a:prstGeom prst="roundRect">
            <a:avLst>
              <a:gd name="adj" fmla="val 14286"/>
            </a:avLst>
          </a:prstGeom>
          <a:solidFill>
            <a:srgbClr val="4A7AB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4721331" y="4206239"/>
            <a:ext cx="141605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5F5F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046133" y="4241800"/>
            <a:ext cx="136186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5F5F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Cancello squadre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88933" y="4526280"/>
            <a:ext cx="3104557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A8C4E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Squadre · Arbitri · </a:t>
            </a:r>
            <a:r>
              <a:rPr lang="en-US" sz="1100" b="1" dirty="0">
                <a:solidFill>
                  <a:srgbClr val="A8C4E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Lista FIP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88933" y="4721861"/>
            <a:ext cx="3104557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E0707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⚠ Chiude 45 min prima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958667" y="3967480"/>
            <a:ext cx="3420533" cy="1874520"/>
          </a:xfrm>
          <a:prstGeom prst="roundRect">
            <a:avLst>
              <a:gd name="adj" fmla="val 4743"/>
            </a:avLst>
          </a:prstGeom>
          <a:solidFill>
            <a:srgbClr val="1A3A7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5" name="Shape 33"/>
          <p:cNvSpPr/>
          <p:nvPr/>
        </p:nvSpPr>
        <p:spPr>
          <a:xfrm>
            <a:off x="8161867" y="4170680"/>
            <a:ext cx="355600" cy="355600"/>
          </a:xfrm>
          <a:prstGeom prst="roundRect">
            <a:avLst>
              <a:gd name="adj" fmla="val 14286"/>
            </a:avLst>
          </a:prstGeom>
          <a:solidFill>
            <a:srgbClr val="4A7AB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6" name="Text 34"/>
          <p:cNvSpPr/>
          <p:nvPr/>
        </p:nvSpPr>
        <p:spPr>
          <a:xfrm>
            <a:off x="8295534" y="4206239"/>
            <a:ext cx="138959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5F5F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619067" y="4241800"/>
            <a:ext cx="154664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5F5F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Ingresso posteriore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161867" y="4526280"/>
            <a:ext cx="3104557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A8C4E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Tifosi ospiti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161867" y="4721861"/>
            <a:ext cx="3104557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6A8AB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Attivato a discrezione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12800" y="6238239"/>
            <a:ext cx="514737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8AB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Accesso A = dorato · Accessi B/C/D = standard · E = tecnico · F = ospiti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834389"/>
            <a:ext cx="609600" cy="609600"/>
          </a:xfrm>
          <a:prstGeom prst="roundRect">
            <a:avLst>
              <a:gd name="adj" fmla="val 16667"/>
            </a:avLst>
          </a:prstGeom>
          <a:solidFill>
            <a:srgbClr val="C9A84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1019598" y="890271"/>
            <a:ext cx="246698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0D2A5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625600" y="812800"/>
            <a:ext cx="4699785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kern="0" spc="150" dirty="0">
                <a:solidFill>
                  <a:srgbClr val="C9A84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DAL PARCHEGGIO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625600" y="1008379"/>
            <a:ext cx="4699785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D2A5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Accesso A — VIP &amp; Gold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812800" y="1719579"/>
            <a:ext cx="4145280" cy="1358900"/>
          </a:xfrm>
          <a:prstGeom prst="roundRect">
            <a:avLst>
              <a:gd name="adj" fmla="val 6542"/>
            </a:avLst>
          </a:prstGeom>
          <a:solidFill>
            <a:srgbClr val="0D2A5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1066800" y="1973579"/>
            <a:ext cx="3746398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C9A84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CHI ENTRA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66800" y="2169161"/>
            <a:ext cx="3746398" cy="680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163068" algn="l">
              <a:lnSpc>
                <a:spcPts val="2520"/>
              </a:lnSpc>
              <a:buSzPct val="100000"/>
              <a:buChar char="•"/>
            </a:pPr>
            <a:r>
              <a:rPr lang="en-US" sz="1400" dirty="0">
                <a:solidFill>
                  <a:srgbClr val="F5F5F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🏆 Fan Card </a:t>
            </a:r>
            <a:r>
              <a:rPr lang="en-US" sz="1400" b="1" dirty="0">
                <a:solidFill>
                  <a:srgbClr val="F5F5F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VIP</a:t>
            </a:r>
            <a:endParaRPr lang="en-US" sz="1400" dirty="0"/>
          </a:p>
          <a:p>
            <a:pPr marL="213360" indent="-163068" algn="l">
              <a:lnSpc>
                <a:spcPts val="2520"/>
              </a:lnSpc>
              <a:buSzPct val="100000"/>
              <a:buChar char="•"/>
            </a:pPr>
            <a:r>
              <a:rPr lang="en-US" sz="1400" dirty="0">
                <a:solidFill>
                  <a:srgbClr val="F5F5F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🥇 Fan Card </a:t>
            </a:r>
            <a:r>
              <a:rPr lang="en-US" sz="1400" b="1" dirty="0">
                <a:solidFill>
                  <a:srgbClr val="F5F5F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Gold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2800" y="3205479"/>
            <a:ext cx="4145280" cy="1686560"/>
          </a:xfrm>
          <a:prstGeom prst="roundRect">
            <a:avLst>
              <a:gd name="adj" fmla="val 5271"/>
            </a:avLst>
          </a:prstGeom>
          <a:solidFill>
            <a:srgbClr val="0D2A5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1066800" y="3459479"/>
            <a:ext cx="3746398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C9A84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DOVE VANNO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66800" y="3655061"/>
            <a:ext cx="3746398" cy="1008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163068" algn="l">
              <a:lnSpc>
                <a:spcPts val="2520"/>
              </a:lnSpc>
              <a:buSzPct val="100000"/>
              <a:buChar char="•"/>
            </a:pPr>
            <a:r>
              <a:rPr lang="en-US" sz="1400" dirty="0">
                <a:solidFill>
                  <a:srgbClr val="F5F5F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Area Ospitality</a:t>
            </a:r>
            <a:endParaRPr lang="en-US" sz="1400" dirty="0"/>
          </a:p>
          <a:p>
            <a:pPr marL="213360" indent="-163068" algn="l">
              <a:lnSpc>
                <a:spcPts val="2520"/>
              </a:lnSpc>
              <a:buSzPct val="100000"/>
              <a:buChar char="•"/>
            </a:pPr>
            <a:r>
              <a:rPr lang="en-US" sz="1400" dirty="0">
                <a:solidFill>
                  <a:srgbClr val="F5F5F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Tribuna A</a:t>
            </a:r>
            <a:endParaRPr lang="en-US" sz="1400" dirty="0"/>
          </a:p>
          <a:p>
            <a:pPr marL="213360" indent="-163068" algn="l">
              <a:lnSpc>
                <a:spcPts val="2520"/>
              </a:lnSpc>
              <a:buSzPct val="100000"/>
              <a:buChar char="•"/>
            </a:pPr>
            <a:r>
              <a:rPr lang="en-US" sz="1400" dirty="0">
                <a:solidFill>
                  <a:srgbClr val="F5F5F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Tribuna B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161280" y="1719579"/>
            <a:ext cx="6217920" cy="1892300"/>
          </a:xfrm>
          <a:prstGeom prst="roundRect">
            <a:avLst>
              <a:gd name="adj" fmla="val 4698"/>
            </a:avLst>
          </a:prstGeom>
          <a:solidFill>
            <a:srgbClr val="C9A84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5415280" y="1973579"/>
            <a:ext cx="5881218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0D2A5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COSA FA L'OPERATORE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15280" y="2169161"/>
            <a:ext cx="5881218" cy="1214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8120" indent="-198120" algn="l">
              <a:lnSpc>
                <a:spcPts val="2340"/>
              </a:lnSpc>
              <a:buSzPct val="100000"/>
              <a:buFontTx/>
              <a:buAutoNum type="arabicPeriod"/>
            </a:pPr>
            <a:r>
              <a:rPr lang="en-US" sz="1300" dirty="0">
                <a:solidFill>
                  <a:srgbClr val="0D2A5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Apre la webapp → sezione </a:t>
            </a:r>
            <a:r>
              <a:rPr lang="en-US" sz="1300" b="1" dirty="0">
                <a:solidFill>
                  <a:srgbClr val="0D2A5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Scanner</a:t>
            </a:r>
            <a:endParaRPr lang="en-US" sz="1300" dirty="0"/>
          </a:p>
          <a:p>
            <a:pPr marL="198120" indent="-198120" algn="l">
              <a:lnSpc>
                <a:spcPts val="2340"/>
              </a:lnSpc>
              <a:buSzPct val="100000"/>
              <a:buFontTx/>
              <a:buAutoNum type="arabicPeriod"/>
            </a:pPr>
            <a:r>
              <a:rPr lang="en-US" sz="1300" dirty="0">
                <a:solidFill>
                  <a:srgbClr val="0D2A5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Scansiona il QR del tifoso</a:t>
            </a:r>
            <a:endParaRPr lang="en-US" sz="1300" dirty="0"/>
          </a:p>
          <a:p>
            <a:pPr marL="198120" indent="-198120" algn="l">
              <a:lnSpc>
                <a:spcPts val="2340"/>
              </a:lnSpc>
              <a:buSzPct val="100000"/>
              <a:buFontTx/>
              <a:buAutoNum type="arabicPeriod"/>
            </a:pPr>
            <a:r>
              <a:rPr lang="en-US" sz="1300" dirty="0">
                <a:solidFill>
                  <a:srgbClr val="0D2A5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Attende il segnale verde ✓</a:t>
            </a:r>
            <a:endParaRPr lang="en-US" sz="1300" dirty="0"/>
          </a:p>
          <a:p>
            <a:pPr marL="198120" indent="-198120" algn="l">
              <a:lnSpc>
                <a:spcPts val="2340"/>
              </a:lnSpc>
              <a:buSzPct val="100000"/>
              <a:buFontTx/>
              <a:buAutoNum type="arabicPeriod"/>
            </a:pPr>
            <a:r>
              <a:rPr lang="en-US" sz="1300" dirty="0">
                <a:solidFill>
                  <a:srgbClr val="0D2A5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Fa passare. Se rosso ✗ → non entra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167630" y="3745229"/>
            <a:ext cx="6205220" cy="1107440"/>
          </a:xfrm>
          <a:prstGeom prst="roundRect">
            <a:avLst>
              <a:gd name="adj" fmla="val 7454"/>
            </a:avLst>
          </a:prstGeom>
          <a:solidFill>
            <a:srgbClr val="FFF3CD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5377180" y="3954779"/>
            <a:ext cx="5959704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7A5A0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⚠ Attenzione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77180" y="4185921"/>
            <a:ext cx="5959704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A400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Questo è l'accesso </a:t>
            </a:r>
            <a:r>
              <a:rPr lang="en-US" sz="1200" b="1" dirty="0">
                <a:solidFill>
                  <a:srgbClr val="5A400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premium</a:t>
            </a:r>
            <a:r>
              <a:rPr lang="en-US" sz="1200" dirty="0">
                <a:solidFill>
                  <a:srgbClr val="5A400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. Mantenere un tono professionale e accogliente. Se il titolo non è VIP o Gold, il sistema non validerà — reindirizzare all'Accesso B o D.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2800" y="6238239"/>
            <a:ext cx="320528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A8A8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Accesso A · 1 operatore scanner + 1 steward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kern="0" spc="150" dirty="0">
                <a:solidFill>
                  <a:srgbClr val="C9A84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PORTA LATO BAR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12800" y="1008379"/>
            <a:ext cx="10883392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D2A5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Accessi B e D — Abbonati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694179"/>
            <a:ext cx="3873500" cy="4147820"/>
          </a:xfrm>
          <a:prstGeom prst="roundRect">
            <a:avLst>
              <a:gd name="adj" fmla="val 2623"/>
            </a:avLst>
          </a:prstGeom>
          <a:solidFill>
            <a:srgbClr val="0D2A5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1092200" y="1973579"/>
            <a:ext cx="406400" cy="406400"/>
          </a:xfrm>
          <a:prstGeom prst="roundRect">
            <a:avLst>
              <a:gd name="adj" fmla="val 15625"/>
            </a:avLst>
          </a:prstGeom>
          <a:solidFill>
            <a:srgbClr val="4A7AB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1224386" y="2007871"/>
            <a:ext cx="192723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F5F5F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B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600200" y="2052321"/>
            <a:ext cx="18946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5F5F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Porta lato Bar (1 di 2)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2200" y="2506979"/>
            <a:ext cx="3414141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kern="0" spc="50" dirty="0">
                <a:solidFill>
                  <a:srgbClr val="C9A84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CHI ENTRA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92200" y="2811779"/>
            <a:ext cx="3414141" cy="1734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8120" indent="-155956" algn="l">
              <a:lnSpc>
                <a:spcPts val="2210"/>
              </a:lnSpc>
              <a:buSzPct val="100000"/>
              <a:buChar char="•"/>
            </a:pPr>
            <a:r>
              <a:rPr lang="en-US" sz="1300" dirty="0">
                <a:solidFill>
                  <a:srgbClr val="F5F5F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🥉 Fan Card </a:t>
            </a:r>
            <a:r>
              <a:rPr lang="en-US" sz="1300" b="1" dirty="0">
                <a:solidFill>
                  <a:srgbClr val="F5F5F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Base</a:t>
            </a:r>
            <a:endParaRPr lang="en-US" sz="1300" dirty="0"/>
          </a:p>
          <a:p>
            <a:pPr marL="198120" indent="-155956" algn="l">
              <a:lnSpc>
                <a:spcPts val="2210"/>
              </a:lnSpc>
              <a:buSzPct val="100000"/>
              <a:buChar char="•"/>
            </a:pPr>
            <a:r>
              <a:rPr lang="en-US" sz="1300" dirty="0">
                <a:solidFill>
                  <a:srgbClr val="F5F5F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🥉 Fan Card </a:t>
            </a:r>
            <a:r>
              <a:rPr lang="en-US" sz="1300" b="1" dirty="0">
                <a:solidFill>
                  <a:srgbClr val="F5F5F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Bronze</a:t>
            </a:r>
            <a:endParaRPr lang="en-US" sz="1300" dirty="0"/>
          </a:p>
          <a:p>
            <a:pPr marL="198120" indent="-155956" algn="l">
              <a:lnSpc>
                <a:spcPts val="2210"/>
              </a:lnSpc>
              <a:buSzPct val="100000"/>
              <a:buChar char="•"/>
            </a:pPr>
            <a:r>
              <a:rPr lang="en-US" sz="1300" dirty="0">
                <a:solidFill>
                  <a:srgbClr val="F5F5F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🎫 Fan Card </a:t>
            </a:r>
            <a:r>
              <a:rPr lang="en-US" sz="1300" b="1" dirty="0">
                <a:solidFill>
                  <a:srgbClr val="F5F5F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Cortesia</a:t>
            </a:r>
            <a:endParaRPr lang="en-US" sz="1300" dirty="0"/>
          </a:p>
          <a:p>
            <a:pPr marL="198120" indent="-155956" algn="l">
              <a:lnSpc>
                <a:spcPts val="2210"/>
              </a:lnSpc>
              <a:buSzPct val="100000"/>
              <a:buChar char="•"/>
            </a:pPr>
            <a:r>
              <a:rPr lang="en-US" sz="1300" dirty="0">
                <a:solidFill>
                  <a:srgbClr val="F5F5F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♿ Fan Card </a:t>
            </a:r>
            <a:r>
              <a:rPr lang="en-US" sz="1300" b="1" dirty="0">
                <a:solidFill>
                  <a:srgbClr val="F5F5F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Disability</a:t>
            </a:r>
            <a:r>
              <a:rPr lang="en-US" sz="1300" dirty="0">
                <a:solidFill>
                  <a:srgbClr val="F5F5F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+ accompagnatore</a:t>
            </a:r>
            <a:endParaRPr lang="en-US" sz="1300" dirty="0"/>
          </a:p>
          <a:p>
            <a:pPr marL="198120" indent="-155956" algn="l">
              <a:lnSpc>
                <a:spcPts val="2210"/>
              </a:lnSpc>
              <a:buSzPct val="100000"/>
              <a:buChar char="•"/>
            </a:pPr>
            <a:r>
              <a:rPr lang="en-US" sz="1300" dirty="0">
                <a:solidFill>
                  <a:srgbClr val="F5F5F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🔧 Fan Card </a:t>
            </a:r>
            <a:r>
              <a:rPr lang="en-US" sz="1300" b="1" dirty="0">
                <a:solidFill>
                  <a:srgbClr val="F5F5F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Servizio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92200" y="4648200"/>
            <a:ext cx="3314700" cy="855980"/>
          </a:xfrm>
          <a:prstGeom prst="roundRect">
            <a:avLst>
              <a:gd name="adj" fmla="val 7418"/>
            </a:avLst>
          </a:prstGeom>
          <a:solidFill>
            <a:srgbClr val="1A3A7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1244600" y="4800600"/>
            <a:ext cx="3100197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A8C4E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→ Destinazione: </a:t>
            </a:r>
            <a:r>
              <a:rPr lang="en-US" sz="1100" b="1" dirty="0">
                <a:solidFill>
                  <a:srgbClr val="A8C4E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Settore Generale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44600" y="4996179"/>
            <a:ext cx="310019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6A8AB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♿ Disability: 2 ingressi totali (titolare + accompagnatore)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89500" y="1694179"/>
            <a:ext cx="3873500" cy="4147820"/>
          </a:xfrm>
          <a:prstGeom prst="roundRect">
            <a:avLst>
              <a:gd name="adj" fmla="val 2623"/>
            </a:avLst>
          </a:prstGeom>
          <a:solidFill>
            <a:srgbClr val="0D2A5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5168900" y="1973579"/>
            <a:ext cx="406400" cy="406400"/>
          </a:xfrm>
          <a:prstGeom prst="roundRect">
            <a:avLst>
              <a:gd name="adj" fmla="val 15625"/>
            </a:avLst>
          </a:prstGeom>
          <a:solidFill>
            <a:srgbClr val="4A7AB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5301404" y="2007871"/>
            <a:ext cx="192193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F5F5F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5676900" y="2052321"/>
            <a:ext cx="20542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5F5F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Porta opposta lato Bar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168900" y="2506979"/>
            <a:ext cx="3414141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kern="0" spc="50" dirty="0">
                <a:solidFill>
                  <a:srgbClr val="C9A84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CHI ENTRA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168900" y="2811779"/>
            <a:ext cx="3414141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8120" indent="-155956" algn="l">
              <a:lnSpc>
                <a:spcPts val="2210"/>
              </a:lnSpc>
              <a:buSzPct val="100000"/>
              <a:buChar char="•"/>
            </a:pPr>
            <a:r>
              <a:rPr lang="en-US" sz="1300" dirty="0">
                <a:solidFill>
                  <a:srgbClr val="F5F5F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🥈 Fan Card </a:t>
            </a:r>
            <a:r>
              <a:rPr lang="en-US" sz="1300" b="1" dirty="0">
                <a:solidFill>
                  <a:srgbClr val="F5F5F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Silver</a:t>
            </a:r>
            <a:endParaRPr lang="en-US" sz="1300" dirty="0"/>
          </a:p>
          <a:p>
            <a:pPr marL="198120" indent="-155956" algn="l">
              <a:lnSpc>
                <a:spcPts val="2210"/>
              </a:lnSpc>
              <a:buSzPct val="100000"/>
              <a:buChar char="•"/>
            </a:pPr>
            <a:r>
              <a:rPr lang="en-US" sz="1300" dirty="0">
                <a:solidFill>
                  <a:srgbClr val="F5F5F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🥇 Fan Card </a:t>
            </a:r>
            <a:r>
              <a:rPr lang="en-US" sz="1300" b="1" dirty="0">
                <a:solidFill>
                  <a:srgbClr val="F5F5F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Gold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168900" y="3510279"/>
            <a:ext cx="3314700" cy="855980"/>
          </a:xfrm>
          <a:prstGeom prst="roundRect">
            <a:avLst>
              <a:gd name="adj" fmla="val 7418"/>
            </a:avLst>
          </a:prstGeom>
          <a:solidFill>
            <a:srgbClr val="1A3A7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5321300" y="3662679"/>
            <a:ext cx="3100197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A8C4E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→ Destinazione: </a:t>
            </a:r>
            <a:r>
              <a:rPr lang="en-US" sz="1100" b="1" dirty="0">
                <a:solidFill>
                  <a:srgbClr val="A8C4E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Tribune Numerate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21300" y="3858261"/>
            <a:ext cx="310019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6A8AB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Posto numerato: verificare anche il numero del posto se richiesto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168900" y="4493261"/>
            <a:ext cx="3314700" cy="500380"/>
          </a:xfrm>
          <a:prstGeom prst="roundRect">
            <a:avLst>
              <a:gd name="adj" fmla="val 12690"/>
            </a:avLst>
          </a:prstGeom>
          <a:solidFill>
            <a:srgbClr val="C9A84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5321300" y="4645661"/>
            <a:ext cx="3100197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0D2A5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Il Gold può entrare sia da A che da 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966200" y="1694179"/>
            <a:ext cx="2413000" cy="4147820"/>
          </a:xfrm>
          <a:prstGeom prst="roundRect">
            <a:avLst>
              <a:gd name="adj" fmla="val 4211"/>
            </a:avLst>
          </a:prstGeom>
          <a:solidFill>
            <a:srgbClr val="1A3A7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9245600" y="1973579"/>
            <a:ext cx="1909826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kern="0" spc="50" dirty="0">
                <a:solidFill>
                  <a:srgbClr val="C9A84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OPERAZIONE SCANNER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245600" y="2270761"/>
            <a:ext cx="1854200" cy="645160"/>
          </a:xfrm>
          <a:prstGeom prst="roundRect">
            <a:avLst>
              <a:gd name="adj" fmla="val 7874"/>
            </a:avLst>
          </a:prstGeom>
          <a:solidFill>
            <a:srgbClr val="0D2A5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9372600" y="2468879"/>
            <a:ext cx="2089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0D2A5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📲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606915" y="2397761"/>
            <a:ext cx="1416685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F5F5F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Apri Scanner nella webapp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245600" y="2992121"/>
            <a:ext cx="1854200" cy="645160"/>
          </a:xfrm>
          <a:prstGeom prst="roundRect">
            <a:avLst>
              <a:gd name="adj" fmla="val 7874"/>
            </a:avLst>
          </a:prstGeom>
          <a:solidFill>
            <a:srgbClr val="0D2A5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9372600" y="3190239"/>
            <a:ext cx="2596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0D2A5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📷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657609" y="3119121"/>
            <a:ext cx="1365991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F5F5F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Inquadra il QR del tifoso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245600" y="3713479"/>
            <a:ext cx="1854200" cy="502920"/>
          </a:xfrm>
          <a:prstGeom prst="roundRect">
            <a:avLst>
              <a:gd name="adj" fmla="val 10101"/>
            </a:avLst>
          </a:prstGeom>
          <a:solidFill>
            <a:srgbClr val="1E5C1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3" name="Text 31"/>
          <p:cNvSpPr/>
          <p:nvPr/>
        </p:nvSpPr>
        <p:spPr>
          <a:xfrm>
            <a:off x="9372600" y="3840479"/>
            <a:ext cx="2949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0D2A5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✅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692957" y="3867150"/>
            <a:ext cx="954087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90EE9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Verde = passa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245600" y="4292600"/>
            <a:ext cx="1854200" cy="502920"/>
          </a:xfrm>
          <a:prstGeom prst="roundRect">
            <a:avLst>
              <a:gd name="adj" fmla="val 10101"/>
            </a:avLst>
          </a:prstGeom>
          <a:solidFill>
            <a:srgbClr val="5C1E1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6" name="Text 34"/>
          <p:cNvSpPr/>
          <p:nvPr/>
        </p:nvSpPr>
        <p:spPr>
          <a:xfrm>
            <a:off x="9372600" y="4419600"/>
            <a:ext cx="2949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0D2A5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❌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9692957" y="4446271"/>
            <a:ext cx="1221528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FFAAA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Rosso = non entra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12800" y="6238239"/>
            <a:ext cx="478088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A8A8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Accesso B · 2 operatori scanner · Accesso D · 1 operatore scanner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kern="0" spc="150" dirty="0">
                <a:solidFill>
                  <a:srgbClr val="C9A84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PORTA LATO BAR (2) · CANCELLO SQUADRE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12800" y="1008379"/>
            <a:ext cx="10883392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D2A5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Accessi C e 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694179"/>
            <a:ext cx="3987800" cy="4147820"/>
          </a:xfrm>
          <a:prstGeom prst="roundRect">
            <a:avLst>
              <a:gd name="adj" fmla="val 2548"/>
            </a:avLst>
          </a:prstGeom>
          <a:solidFill>
            <a:srgbClr val="0D2A5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1092200" y="1972838"/>
            <a:ext cx="406400" cy="406400"/>
          </a:xfrm>
          <a:prstGeom prst="roundRect">
            <a:avLst>
              <a:gd name="adj" fmla="val 15625"/>
            </a:avLst>
          </a:prstGeom>
          <a:solidFill>
            <a:srgbClr val="4A7AB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1227455" y="2007130"/>
            <a:ext cx="18669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F5F5F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600200" y="2051475"/>
            <a:ext cx="19272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5F5F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Porta lato Bar (2 di 2)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2200" y="2505391"/>
            <a:ext cx="3531870" cy="202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kern="0" spc="50" dirty="0">
                <a:solidFill>
                  <a:srgbClr val="C9A84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CHI ENTRA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92200" y="2809450"/>
            <a:ext cx="3531870" cy="1153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8120" indent="-155956" algn="l">
              <a:lnSpc>
                <a:spcPts val="2210"/>
              </a:lnSpc>
              <a:buSzPct val="100000"/>
              <a:buChar char="•"/>
            </a:pPr>
            <a:r>
              <a:rPr lang="en-US" sz="1300" dirty="0">
                <a:solidFill>
                  <a:srgbClr val="F5F5F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🎟 </a:t>
            </a:r>
            <a:r>
              <a:rPr lang="en-US" sz="1300" b="1" dirty="0">
                <a:solidFill>
                  <a:srgbClr val="F5F5F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Biglietti singoli</a:t>
            </a:r>
            <a:r>
              <a:rPr lang="en-US" sz="1300" dirty="0">
                <a:solidFill>
                  <a:srgbClr val="F5F5F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</a:t>
            </a:r>
            <a:r>
              <a:rPr lang="en-US" sz="1300" dirty="0">
                <a:solidFill>
                  <a:srgbClr val="A8C4E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acquistati in cassa o su Liveticket</a:t>
            </a:r>
            <a:endParaRPr lang="en-US" sz="1300" dirty="0"/>
          </a:p>
          <a:p>
            <a:pPr marL="198120" indent="-155956" algn="l">
              <a:lnSpc>
                <a:spcPts val="2210"/>
              </a:lnSpc>
              <a:buSzPct val="100000"/>
              <a:buChar char="•"/>
            </a:pPr>
            <a:r>
              <a:rPr lang="en-US" sz="1300" dirty="0">
                <a:solidFill>
                  <a:srgbClr val="F5F5F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📰 </a:t>
            </a:r>
            <a:r>
              <a:rPr lang="en-US" sz="1300" b="1" dirty="0">
                <a:solidFill>
                  <a:srgbClr val="F5F5F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Accrediti</a:t>
            </a:r>
            <a:r>
              <a:rPr lang="en-US" sz="1300" dirty="0">
                <a:solidFill>
                  <a:srgbClr val="F5F5F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</a:t>
            </a:r>
            <a:r>
              <a:rPr lang="en-US" sz="1300" dirty="0">
                <a:solidFill>
                  <a:srgbClr val="A8C4E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stampa · media · istituzionali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92200" y="4064636"/>
            <a:ext cx="3429000" cy="499533"/>
          </a:xfrm>
          <a:prstGeom prst="roundRect">
            <a:avLst>
              <a:gd name="adj" fmla="val 12712"/>
            </a:avLst>
          </a:prstGeom>
          <a:solidFill>
            <a:srgbClr val="1A3A7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1244600" y="4217036"/>
            <a:ext cx="3217926" cy="220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A8C4E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→ Settore Generale + </a:t>
            </a:r>
            <a:r>
              <a:rPr lang="en-US" sz="1100" b="1" dirty="0">
                <a:solidFill>
                  <a:srgbClr val="A8C4E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Area Accreditati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92200" y="4691168"/>
            <a:ext cx="3429000" cy="871432"/>
          </a:xfrm>
          <a:prstGeom prst="roundRect">
            <a:avLst>
              <a:gd name="adj" fmla="val 7287"/>
            </a:avLst>
          </a:prstGeom>
          <a:solidFill>
            <a:srgbClr val="C9A84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1244600" y="4843568"/>
            <a:ext cx="3217926" cy="414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35"/>
              </a:lnSpc>
              <a:buNone/>
            </a:pPr>
            <a:r>
              <a:rPr lang="en-US" sz="1097" b="1" dirty="0">
                <a:solidFill>
                  <a:srgbClr val="0D2A5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⭐ Unico punto per biglietti singoli e Liveticket</a:t>
            </a:r>
            <a:endParaRPr lang="en-US" sz="1097" dirty="0"/>
          </a:p>
        </p:txBody>
      </p:sp>
      <p:sp>
        <p:nvSpPr>
          <p:cNvPr id="14" name="Text 12"/>
          <p:cNvSpPr/>
          <p:nvPr/>
        </p:nvSpPr>
        <p:spPr>
          <a:xfrm>
            <a:off x="1244600" y="5233141"/>
            <a:ext cx="3217926" cy="202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5A400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Chi non ha abbonamento passa sempre da qui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10150" y="1700529"/>
            <a:ext cx="4000500" cy="4135120"/>
          </a:xfrm>
          <a:prstGeom prst="roundRect">
            <a:avLst>
              <a:gd name="adj" fmla="val 2381"/>
            </a:avLst>
          </a:prstGeom>
          <a:solidFill>
            <a:srgbClr val="3A1A1A"/>
          </a:solidFill>
          <a:ln w="12700">
            <a:solidFill>
              <a:srgbClr val="E0707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5295900" y="1963738"/>
            <a:ext cx="406400" cy="406400"/>
          </a:xfrm>
          <a:prstGeom prst="roundRect">
            <a:avLst>
              <a:gd name="adj" fmla="val 15625"/>
            </a:avLst>
          </a:prstGeom>
          <a:solidFill>
            <a:srgbClr val="E0707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5445125" y="1998027"/>
            <a:ext cx="158644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F5F5F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5803900" y="2042371"/>
            <a:ext cx="15801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5F5F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Cancello squadre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299075" y="2477663"/>
            <a:ext cx="3422650" cy="861695"/>
          </a:xfrm>
          <a:prstGeom prst="roundRect">
            <a:avLst>
              <a:gd name="adj" fmla="val 7001"/>
            </a:avLst>
          </a:prstGeom>
          <a:solidFill>
            <a:srgbClr val="5C1E1E"/>
          </a:solidFill>
          <a:ln w="6350">
            <a:solidFill>
              <a:srgbClr val="E0707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5453380" y="2631970"/>
            <a:ext cx="3207461" cy="2308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1"/>
              </a:lnSpc>
              <a:buNone/>
            </a:pPr>
            <a:r>
              <a:rPr lang="en-US" sz="1158" b="1" dirty="0">
                <a:solidFill>
                  <a:srgbClr val="FFAAA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⏱ CHIUDE 45 MINUTI PRIMA</a:t>
            </a:r>
            <a:endParaRPr lang="en-US" sz="1158" dirty="0"/>
          </a:p>
        </p:txBody>
      </p:sp>
      <p:sp>
        <p:nvSpPr>
          <p:cNvPr id="21" name="Text 19"/>
          <p:cNvSpPr/>
          <p:nvPr/>
        </p:nvSpPr>
        <p:spPr>
          <a:xfrm>
            <a:off x="5453380" y="2837393"/>
            <a:ext cx="3207461" cy="373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68"/>
              </a:lnSpc>
              <a:buNone/>
            </a:pPr>
            <a:r>
              <a:rPr lang="en-US" sz="1048" dirty="0">
                <a:solidFill>
                  <a:srgbClr val="F5D0D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Nessuno entra dopo la chiusura — senza eccezioni</a:t>
            </a:r>
            <a:endParaRPr lang="en-US" sz="1048" dirty="0"/>
          </a:p>
        </p:txBody>
      </p:sp>
      <p:sp>
        <p:nvSpPr>
          <p:cNvPr id="22" name="Text 20"/>
          <p:cNvSpPr/>
          <p:nvPr/>
        </p:nvSpPr>
        <p:spPr>
          <a:xfrm>
            <a:off x="5295900" y="3469534"/>
            <a:ext cx="3531870" cy="1834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73"/>
              </a:lnSpc>
              <a:buNone/>
            </a:pPr>
            <a:r>
              <a:rPr lang="en-US" sz="909" b="1" kern="0" spc="50" dirty="0">
                <a:solidFill>
                  <a:srgbClr val="E0707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CHI ENTRA</a:t>
            </a:r>
            <a:endParaRPr lang="en-US" sz="909" dirty="0"/>
          </a:p>
        </p:txBody>
      </p:sp>
      <p:sp>
        <p:nvSpPr>
          <p:cNvPr id="23" name="Text 21"/>
          <p:cNvSpPr/>
          <p:nvPr/>
        </p:nvSpPr>
        <p:spPr>
          <a:xfrm>
            <a:off x="5295900" y="3754543"/>
            <a:ext cx="3531870" cy="1041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5736" indent="-142142" algn="l">
              <a:lnSpc>
                <a:spcPts val="1961"/>
              </a:lnSpc>
              <a:buSzPct val="100000"/>
              <a:buChar char="•"/>
            </a:pPr>
            <a:r>
              <a:rPr lang="en-US" sz="1154" dirty="0">
                <a:solidFill>
                  <a:srgbClr val="F5F5F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🏀 Squadra di casa</a:t>
            </a:r>
            <a:endParaRPr lang="en-US" sz="1154" dirty="0"/>
          </a:p>
          <a:p>
            <a:pPr marL="175736" indent="-142142" algn="l">
              <a:lnSpc>
                <a:spcPts val="1961"/>
              </a:lnSpc>
              <a:buSzPct val="100000"/>
              <a:buChar char="•"/>
            </a:pPr>
            <a:r>
              <a:rPr lang="en-US" sz="1154" dirty="0">
                <a:solidFill>
                  <a:srgbClr val="F5F5F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🏀 Squadra ospite</a:t>
            </a:r>
            <a:endParaRPr lang="en-US" sz="1154" dirty="0"/>
          </a:p>
          <a:p>
            <a:pPr marL="175736" indent="-142142" algn="l">
              <a:lnSpc>
                <a:spcPts val="1961"/>
              </a:lnSpc>
              <a:buSzPct val="100000"/>
              <a:buChar char="•"/>
            </a:pPr>
            <a:r>
              <a:rPr lang="en-US" sz="1154" dirty="0">
                <a:solidFill>
                  <a:srgbClr val="F5F5F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⚖ Squadra arbitrale</a:t>
            </a:r>
            <a:endParaRPr lang="en-US" sz="1154" dirty="0"/>
          </a:p>
          <a:p>
            <a:pPr marL="175736" indent="-142142" algn="l">
              <a:lnSpc>
                <a:spcPts val="1961"/>
              </a:lnSpc>
              <a:buSzPct val="100000"/>
              <a:buChar char="•"/>
            </a:pPr>
            <a:r>
              <a:rPr lang="en-US" sz="1154" dirty="0">
                <a:solidFill>
                  <a:srgbClr val="F5F5F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📋 Addetti ai lavori (lista FIP)</a:t>
            </a:r>
            <a:endParaRPr lang="en-US" sz="1154" dirty="0"/>
          </a:p>
        </p:txBody>
      </p:sp>
      <p:sp>
        <p:nvSpPr>
          <p:cNvPr id="24" name="Shape 22"/>
          <p:cNvSpPr/>
          <p:nvPr/>
        </p:nvSpPr>
        <p:spPr>
          <a:xfrm>
            <a:off x="5295900" y="4897438"/>
            <a:ext cx="3429000" cy="652463"/>
          </a:xfrm>
          <a:prstGeom prst="roundRect">
            <a:avLst>
              <a:gd name="adj" fmla="val 9732"/>
            </a:avLst>
          </a:prstGeom>
          <a:solidFill>
            <a:srgbClr val="4A1A1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5448300" y="5049838"/>
            <a:ext cx="3217926" cy="373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86"/>
              </a:lnSpc>
              <a:buNone/>
            </a:pPr>
            <a:r>
              <a:rPr lang="en-US" sz="990" dirty="0">
                <a:solidFill>
                  <a:srgbClr val="A8C4E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Verificare che il nome sia sulla </a:t>
            </a:r>
            <a:r>
              <a:rPr lang="en-US" sz="990" b="1" dirty="0">
                <a:solidFill>
                  <a:srgbClr val="A8C4E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lista FIP</a:t>
            </a:r>
            <a:r>
              <a:rPr lang="en-US" sz="990" dirty="0">
                <a:solidFill>
                  <a:srgbClr val="A8C4E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per gli addetti. QR non richiesto per squadre e arbitri.</a:t>
            </a:r>
            <a:endParaRPr lang="en-US" sz="990" dirty="0"/>
          </a:p>
        </p:txBody>
      </p:sp>
      <p:sp>
        <p:nvSpPr>
          <p:cNvPr id="26" name="Shape 24"/>
          <p:cNvSpPr/>
          <p:nvPr/>
        </p:nvSpPr>
        <p:spPr>
          <a:xfrm>
            <a:off x="9220200" y="1694179"/>
            <a:ext cx="2159000" cy="4147820"/>
          </a:xfrm>
          <a:prstGeom prst="roundRect">
            <a:avLst>
              <a:gd name="adj" fmla="val 4706"/>
            </a:avLst>
          </a:prstGeom>
          <a:solidFill>
            <a:srgbClr val="1A3A7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9474200" y="1948179"/>
            <a:ext cx="1701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kern="0" spc="50" dirty="0">
                <a:solidFill>
                  <a:srgbClr val="C9A84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ATTENZIONE ACCESSO C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474200" y="2227579"/>
            <a:ext cx="1651000" cy="982980"/>
          </a:xfrm>
          <a:prstGeom prst="roundRect">
            <a:avLst>
              <a:gd name="adj" fmla="val 5168"/>
            </a:avLst>
          </a:prstGeom>
          <a:solidFill>
            <a:srgbClr val="0D2A5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9601200" y="2354579"/>
            <a:ext cx="144780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F5F5F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Biglietto Liveticket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601200" y="2550161"/>
            <a:ext cx="14478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A8C4E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QR nello scontrino/email — scansionare normalmente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474200" y="3286761"/>
            <a:ext cx="1651000" cy="982980"/>
          </a:xfrm>
          <a:prstGeom prst="roundRect">
            <a:avLst>
              <a:gd name="adj" fmla="val 5168"/>
            </a:avLst>
          </a:prstGeom>
          <a:solidFill>
            <a:srgbClr val="0D2A5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9601200" y="3413761"/>
            <a:ext cx="144780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F5F5F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Accredito stampa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601200" y="3609339"/>
            <a:ext cx="14478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A8C4E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Documento fisico con QR — verificare identità se richiesto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474200" y="4345939"/>
            <a:ext cx="1651000" cy="1178560"/>
          </a:xfrm>
          <a:prstGeom prst="roundRect">
            <a:avLst>
              <a:gd name="adj" fmla="val 4310"/>
            </a:avLst>
          </a:prstGeom>
          <a:solidFill>
            <a:srgbClr val="0D2A5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5" name="Text 33"/>
          <p:cNvSpPr/>
          <p:nvPr/>
        </p:nvSpPr>
        <p:spPr>
          <a:xfrm>
            <a:off x="9601200" y="4472939"/>
            <a:ext cx="144780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F5F5F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Cassa giorno partita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601200" y="4864100"/>
            <a:ext cx="14478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A8C4E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Il biglietto emesso in cassa ha un QR valido per questo accesso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12800" y="6238239"/>
            <a:ext cx="509123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A8A8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Accesso C · 1-2 operatori · Accesso E · 1 operatore + responsabile lista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kern="0" spc="150" dirty="0">
                <a:solidFill>
                  <a:srgbClr val="C9A84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ORARI E APERTURA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12800" y="1008379"/>
            <a:ext cx="10883392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D2A5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Accesso F + Regole generali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9150" y="1700529"/>
            <a:ext cx="3831167" cy="4135120"/>
          </a:xfrm>
          <a:prstGeom prst="roundRect">
            <a:avLst>
              <a:gd name="adj" fmla="val 2486"/>
            </a:avLst>
          </a:prstGeom>
          <a:solidFill>
            <a:srgbClr val="2A1A3A"/>
          </a:solidFill>
          <a:ln w="12700">
            <a:solidFill>
              <a:srgbClr val="9A70C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1104900" y="2032000"/>
            <a:ext cx="406400" cy="406400"/>
          </a:xfrm>
          <a:prstGeom prst="roundRect">
            <a:avLst>
              <a:gd name="adj" fmla="val 15625"/>
            </a:avLst>
          </a:prstGeom>
          <a:solidFill>
            <a:srgbClr val="9A70C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1255713" y="2066289"/>
            <a:ext cx="155575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F5F5F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612900" y="1986279"/>
            <a:ext cx="2834217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5F5F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Ingresso posteriore — Tifosi ospiti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104900" y="2611121"/>
            <a:ext cx="3259667" cy="1146810"/>
          </a:xfrm>
          <a:prstGeom prst="roundRect">
            <a:avLst>
              <a:gd name="adj" fmla="val 5537"/>
            </a:avLst>
          </a:prstGeom>
          <a:solidFill>
            <a:srgbClr val="1A0A2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1257300" y="2763521"/>
            <a:ext cx="304351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0A0E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Attivato a discrezione della società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57300" y="2976879"/>
            <a:ext cx="3043513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A080C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Riceverai indicazioni prima della gara se questo accesso è attivo. In caso contrario rimane chiuso.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04900" y="3884929"/>
            <a:ext cx="3357457" cy="867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48844" algn="l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F5F5F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Tifosi ospiti con biglietto valido</a:t>
            </a:r>
            <a:endParaRPr lang="en-US" sz="1200" dirty="0"/>
          </a:p>
          <a:p>
            <a:pPr marL="182880" indent="-148844" algn="l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F5F5F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Settore ospiti separato</a:t>
            </a:r>
            <a:endParaRPr lang="en-US" sz="1200" dirty="0"/>
          </a:p>
          <a:p>
            <a:pPr marL="182880" indent="-148844" algn="l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F5F5F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Nessuna interazione con il settore casa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59867" y="1694179"/>
            <a:ext cx="6714913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kern="0" spc="100" dirty="0">
                <a:solidFill>
                  <a:srgbClr val="C9A84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ORARI — TUTTI GLI ACCESSI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59867" y="2016761"/>
            <a:ext cx="1548553" cy="1625600"/>
          </a:xfrm>
          <a:prstGeom prst="roundRect">
            <a:avLst>
              <a:gd name="adj" fmla="val 4921"/>
            </a:avLst>
          </a:prstGeom>
          <a:solidFill>
            <a:srgbClr val="0D2A5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5037667" y="2219961"/>
            <a:ext cx="1192953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C9A84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-2h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037667" y="2646679"/>
            <a:ext cx="1192953" cy="612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40"/>
              </a:lnSpc>
              <a:buNone/>
            </a:pPr>
            <a:r>
              <a:rPr lang="en-US" sz="1100" dirty="0">
                <a:solidFill>
                  <a:srgbClr val="F5F5F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Operatori e sicurezza</a:t>
            </a:r>
            <a:endParaRPr lang="en-US" sz="1100" dirty="0"/>
          </a:p>
          <a:p>
            <a:pPr marL="0" indent="0" algn="ctr">
              <a:lnSpc>
                <a:spcPts val="1540"/>
              </a:lnSpc>
              <a:buNone/>
            </a:pPr>
            <a:r>
              <a:rPr lang="en-US" sz="1100" dirty="0">
                <a:solidFill>
                  <a:srgbClr val="F5F5F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in posizione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10020" y="2016761"/>
            <a:ext cx="1548553" cy="1625600"/>
          </a:xfrm>
          <a:prstGeom prst="roundRect">
            <a:avLst>
              <a:gd name="adj" fmla="val 4921"/>
            </a:avLst>
          </a:prstGeom>
          <a:solidFill>
            <a:srgbClr val="0D2A5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6687820" y="2219961"/>
            <a:ext cx="1192953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C9A84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-60'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687820" y="2646679"/>
            <a:ext cx="1192953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40"/>
              </a:lnSpc>
              <a:buNone/>
            </a:pPr>
            <a:r>
              <a:rPr lang="en-US" sz="1100" dirty="0">
                <a:solidFill>
                  <a:srgbClr val="F5F5F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Cancelli aperti</a:t>
            </a:r>
            <a:endParaRPr lang="en-US" sz="1100" dirty="0"/>
          </a:p>
          <a:p>
            <a:pPr marL="0" indent="0" algn="ctr">
              <a:lnSpc>
                <a:spcPts val="1540"/>
              </a:lnSpc>
              <a:buNone/>
            </a:pPr>
            <a:r>
              <a:rPr lang="en-US" sz="1100" dirty="0">
                <a:solidFill>
                  <a:srgbClr val="F5F5F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al pubblico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163348" y="2019936"/>
            <a:ext cx="1552363" cy="1619250"/>
          </a:xfrm>
          <a:prstGeom prst="roundRect">
            <a:avLst>
              <a:gd name="adj" fmla="val 4704"/>
            </a:avLst>
          </a:prstGeom>
          <a:solidFill>
            <a:srgbClr val="5C3A1E"/>
          </a:solidFill>
          <a:ln w="6350">
            <a:solidFill>
              <a:srgbClr val="E0707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8343054" y="2225039"/>
            <a:ext cx="1192953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E0707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-45'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8343054" y="2651761"/>
            <a:ext cx="1192953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40"/>
              </a:lnSpc>
              <a:buNone/>
            </a:pPr>
            <a:r>
              <a:rPr lang="en-US" sz="1100" dirty="0">
                <a:solidFill>
                  <a:srgbClr val="F5D0A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Chiude </a:t>
            </a:r>
            <a:r>
              <a:rPr lang="en-US" sz="1100" b="1" dirty="0">
                <a:solidFill>
                  <a:srgbClr val="F5D0A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Accesso E</a:t>
            </a:r>
            <a:endParaRPr lang="en-US" sz="1100" dirty="0"/>
          </a:p>
          <a:p>
            <a:pPr marL="0" indent="0" algn="ctr">
              <a:lnSpc>
                <a:spcPts val="1540"/>
              </a:lnSpc>
              <a:buNone/>
            </a:pPr>
            <a:r>
              <a:rPr lang="en-US" sz="1100" dirty="0">
                <a:solidFill>
                  <a:srgbClr val="F5D0A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(cancello squadre)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823662" y="2019936"/>
            <a:ext cx="1552363" cy="1619250"/>
          </a:xfrm>
          <a:prstGeom prst="roundRect">
            <a:avLst>
              <a:gd name="adj" fmla="val 4704"/>
            </a:avLst>
          </a:prstGeom>
          <a:solidFill>
            <a:srgbClr val="1A3A1A"/>
          </a:solidFill>
          <a:ln w="6350">
            <a:solidFill>
              <a:srgbClr val="70C07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10003367" y="2225039"/>
            <a:ext cx="1192953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90EE9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Fine 2°Q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0003367" y="2527300"/>
            <a:ext cx="1192953" cy="612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40"/>
              </a:lnSpc>
              <a:buNone/>
            </a:pPr>
            <a:r>
              <a:rPr lang="en-US" sz="1100" dirty="0">
                <a:solidFill>
                  <a:srgbClr val="A0D0A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Cancelli presidiati</a:t>
            </a:r>
            <a:endParaRPr lang="en-US" sz="1100" dirty="0"/>
          </a:p>
          <a:p>
            <a:pPr marL="0" indent="0" algn="ctr">
              <a:lnSpc>
                <a:spcPts val="1540"/>
              </a:lnSpc>
              <a:buNone/>
            </a:pPr>
            <a:r>
              <a:rPr lang="en-US" sz="1100" dirty="0">
                <a:solidFill>
                  <a:srgbClr val="A0D0A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fino a qui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66217" y="3775711"/>
            <a:ext cx="3196167" cy="2059940"/>
          </a:xfrm>
          <a:prstGeom prst="roundRect">
            <a:avLst>
              <a:gd name="adj" fmla="val 3391"/>
            </a:avLst>
          </a:prstGeom>
          <a:solidFill>
            <a:srgbClr val="FFF3CD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5075767" y="3985261"/>
            <a:ext cx="2860379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7A5A0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♿ DISABILITY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75767" y="4180842"/>
            <a:ext cx="2860379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5A400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Il QR viene scansionato </a:t>
            </a:r>
            <a:r>
              <a:rPr lang="en-US" sz="1100" b="1" dirty="0">
                <a:solidFill>
                  <a:srgbClr val="5A400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una volta sola</a:t>
            </a:r>
            <a:r>
              <a:rPr lang="en-US" sz="1100" dirty="0">
                <a:solidFill>
                  <a:srgbClr val="5A400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ma il sistema conta </a:t>
            </a:r>
            <a:r>
              <a:rPr lang="en-US" sz="1100" b="1" dirty="0">
                <a:solidFill>
                  <a:srgbClr val="5A400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2 ingressi</a:t>
            </a:r>
            <a:r>
              <a:rPr lang="en-US" sz="1100" dirty="0">
                <a:solidFill>
                  <a:srgbClr val="5A400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(titolare + accompagnatore gratuito)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176683" y="3775711"/>
            <a:ext cx="3196167" cy="2059940"/>
          </a:xfrm>
          <a:prstGeom prst="roundRect">
            <a:avLst>
              <a:gd name="adj" fmla="val 3391"/>
            </a:avLst>
          </a:prstGeom>
          <a:solidFill>
            <a:srgbClr val="E8F4E8"/>
          </a:solidFill>
          <a:ln w="12700">
            <a:solidFill>
              <a:srgbClr val="4A8A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8386233" y="3985261"/>
            <a:ext cx="2860379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2A5A2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📱 QR GIÀ USATO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386233" y="4180842"/>
            <a:ext cx="2860379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2A4A2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Il sistema segna automaticamente il QR come </a:t>
            </a:r>
            <a:r>
              <a:rPr lang="en-US" sz="1100" b="1" dirty="0">
                <a:solidFill>
                  <a:srgbClr val="2A4A2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già utilizzato</a:t>
            </a:r>
            <a:r>
              <a:rPr lang="en-US" sz="1100" dirty="0">
                <a:solidFill>
                  <a:srgbClr val="2A4A2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. Un secondo tentativo dà esito rosso. Contattare la società.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12800" y="6238242"/>
            <a:ext cx="403919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A8A8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Regole valide per tutti gli accessi · </a:t>
            </a:r>
            <a:r>
              <a:rPr lang="en-US" sz="1200" dirty="0" err="1">
                <a:solidFill>
                  <a:srgbClr val="8A8A8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Stagione</a:t>
            </a:r>
            <a:r>
              <a:rPr lang="en-US" sz="1200" dirty="0">
                <a:solidFill>
                  <a:srgbClr val="8A8A8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2026/2027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2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kern="0" spc="150" dirty="0">
                <a:solidFill>
                  <a:srgbClr val="C9A84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CARTA VIRTUS OPERATORE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12800" y="1008379"/>
            <a:ext cx="10883392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800" b="1" dirty="0">
                <a:solidFill>
                  <a:srgbClr val="F5F5F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Come usare lo scanner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12800" y="1744979"/>
            <a:ext cx="3373967" cy="1732280"/>
          </a:xfrm>
          <a:prstGeom prst="roundRect">
            <a:avLst>
              <a:gd name="adj" fmla="val 4399"/>
            </a:avLst>
          </a:prstGeom>
          <a:solidFill>
            <a:srgbClr val="1A3A7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1016000" y="1948179"/>
            <a:ext cx="355600" cy="355600"/>
          </a:xfrm>
          <a:prstGeom prst="roundRect">
            <a:avLst>
              <a:gd name="adj" fmla="val 14286"/>
            </a:avLst>
          </a:prstGeom>
          <a:solidFill>
            <a:srgbClr val="C9A84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1157076" y="1992629"/>
            <a:ext cx="12414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D2A5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16000" y="2379979"/>
            <a:ext cx="3056594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5F5F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Accedi alla webapp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16000" y="2687321"/>
            <a:ext cx="3056594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A8C4E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Apri l'icona dalla schermata Home. Inserisci le tue credenziali operatore.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13767" y="1744979"/>
            <a:ext cx="3373967" cy="1732280"/>
          </a:xfrm>
          <a:prstGeom prst="roundRect">
            <a:avLst>
              <a:gd name="adj" fmla="val 4399"/>
            </a:avLst>
          </a:prstGeom>
          <a:solidFill>
            <a:srgbClr val="1A3A7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4516967" y="1948179"/>
            <a:ext cx="355600" cy="355600"/>
          </a:xfrm>
          <a:prstGeom prst="roundRect">
            <a:avLst>
              <a:gd name="adj" fmla="val 14286"/>
            </a:avLst>
          </a:prstGeom>
          <a:solidFill>
            <a:srgbClr val="C9A84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4645766" y="1992629"/>
            <a:ext cx="14869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D2A5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16967" y="2379979"/>
            <a:ext cx="3056594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5F5F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Seleziona "Scanner"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16967" y="2687321"/>
            <a:ext cx="3056594" cy="612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A8C4E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Dal menu principale tocca il pulsante Scanner QR. Concedi i permessi alla fotocamera se richiesto.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2800" y="3604258"/>
            <a:ext cx="3373967" cy="1732280"/>
          </a:xfrm>
          <a:prstGeom prst="roundRect">
            <a:avLst>
              <a:gd name="adj" fmla="val 4399"/>
            </a:avLst>
          </a:prstGeom>
          <a:solidFill>
            <a:srgbClr val="1A3A7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1016000" y="3807458"/>
            <a:ext cx="355600" cy="355600"/>
          </a:xfrm>
          <a:prstGeom prst="roundRect">
            <a:avLst>
              <a:gd name="adj" fmla="val 14286"/>
            </a:avLst>
          </a:prstGeom>
          <a:solidFill>
            <a:srgbClr val="C9A84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1144799" y="3851908"/>
            <a:ext cx="14869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D2A5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16000" y="4239258"/>
            <a:ext cx="3056594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5F5F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Inquadra il QR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16000" y="4546600"/>
            <a:ext cx="3056594" cy="612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A8C4E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Punta la fotocamera sul QR code dello smartphone del tifoso. Tenerlo a circa 20-30cm.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313767" y="3604258"/>
            <a:ext cx="3373967" cy="1732280"/>
          </a:xfrm>
          <a:prstGeom prst="roundRect">
            <a:avLst>
              <a:gd name="adj" fmla="val 4399"/>
            </a:avLst>
          </a:prstGeom>
          <a:solidFill>
            <a:srgbClr val="1A3A7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0" name="Shape 18"/>
          <p:cNvSpPr/>
          <p:nvPr/>
        </p:nvSpPr>
        <p:spPr>
          <a:xfrm>
            <a:off x="4516967" y="3807458"/>
            <a:ext cx="355600" cy="355600"/>
          </a:xfrm>
          <a:prstGeom prst="roundRect">
            <a:avLst>
              <a:gd name="adj" fmla="val 14286"/>
            </a:avLst>
          </a:prstGeom>
          <a:solidFill>
            <a:srgbClr val="C9A84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4644813" y="3851908"/>
            <a:ext cx="15060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D2A5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16967" y="4239258"/>
            <a:ext cx="3056594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5F5F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Leggi il risultato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16967" y="4546600"/>
            <a:ext cx="3056594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A8C4E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La schermata mostra verde ✓ o rosso ✗ con il nome del titolare e il tipo di Fan Card.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948083" y="1751329"/>
            <a:ext cx="3424767" cy="1972310"/>
          </a:xfrm>
          <a:prstGeom prst="roundRect">
            <a:avLst>
              <a:gd name="adj" fmla="val 4829"/>
            </a:avLst>
          </a:prstGeom>
          <a:solidFill>
            <a:srgbClr val="1E5C1E"/>
          </a:solidFill>
          <a:ln w="12700">
            <a:solidFill>
              <a:srgbClr val="70C07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8208433" y="2011679"/>
            <a:ext cx="29911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90EE9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✅ VERDE — VALIDO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208433" y="2260600"/>
            <a:ext cx="2991189" cy="1148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48844" algn="l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0E8C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Nome e cognome visibili</a:t>
            </a:r>
            <a:endParaRPr lang="en-US" sz="1200" dirty="0"/>
          </a:p>
          <a:p>
            <a:pPr marL="182880" indent="-148844" algn="l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0E8C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Tipo Fan Card indicato</a:t>
            </a:r>
            <a:endParaRPr lang="en-US" sz="1200" dirty="0"/>
          </a:p>
          <a:p>
            <a:pPr marL="182880" indent="-148844" algn="l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0E8C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QR marcato come usato</a:t>
            </a:r>
            <a:endParaRPr lang="en-US" sz="1200" dirty="0"/>
          </a:p>
          <a:p>
            <a:pPr marL="182880" indent="-148844" algn="l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0E8C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Fa passare il tifoso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948083" y="3863342"/>
            <a:ext cx="3424767" cy="1972310"/>
          </a:xfrm>
          <a:prstGeom prst="roundRect">
            <a:avLst>
              <a:gd name="adj" fmla="val 4829"/>
            </a:avLst>
          </a:prstGeom>
          <a:solidFill>
            <a:srgbClr val="5C1E1E"/>
          </a:solidFill>
          <a:ln w="12700">
            <a:solidFill>
              <a:srgbClr val="E0707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8208433" y="4123692"/>
            <a:ext cx="29911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AAA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❌ ROSSO — NON VALIDO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208433" y="4372608"/>
            <a:ext cx="2991189" cy="1148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48844" algn="l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E8C0C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QR già usato in precedenza</a:t>
            </a:r>
            <a:endParaRPr lang="en-US" sz="1200" dirty="0"/>
          </a:p>
          <a:p>
            <a:pPr marL="182880" indent="-148844" algn="l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E8C0C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Abbonamento scaduto / non attivo</a:t>
            </a:r>
            <a:endParaRPr lang="en-US" sz="1200" dirty="0"/>
          </a:p>
          <a:p>
            <a:pPr marL="182880" indent="-148844" algn="l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E8C0C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QR non riconosciuto</a:t>
            </a:r>
            <a:endParaRPr lang="en-US" sz="1200" dirty="0"/>
          </a:p>
          <a:p>
            <a:pPr marL="182880" indent="-148844" algn="l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E8C0C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→ Indirizzare al banchetto società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12800" y="6238242"/>
            <a:ext cx="519773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8AB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Mai </a:t>
            </a:r>
            <a:r>
              <a:rPr lang="en-US" sz="1200" dirty="0" err="1">
                <a:solidFill>
                  <a:srgbClr val="6A8AB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consentire</a:t>
            </a:r>
            <a:r>
              <a:rPr lang="en-US" sz="1200" dirty="0">
                <a:solidFill>
                  <a:srgbClr val="6A8AB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</a:t>
            </a:r>
            <a:r>
              <a:rPr lang="en-US" sz="1200" dirty="0" err="1">
                <a:solidFill>
                  <a:srgbClr val="6A8AB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ingresso</a:t>
            </a:r>
            <a:r>
              <a:rPr lang="en-US" sz="1200" dirty="0">
                <a:solidFill>
                  <a:srgbClr val="6A8AB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senza conferma verde dallo scanner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190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23"/>
              </a:lnSpc>
              <a:buNone/>
            </a:pPr>
            <a:r>
              <a:rPr lang="en-US" sz="945" kern="0" spc="150" dirty="0">
                <a:solidFill>
                  <a:srgbClr val="C9A84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DISTRIBUZIONE COMPITI</a:t>
            </a:r>
            <a:endParaRPr lang="en-US" sz="945" dirty="0"/>
          </a:p>
        </p:txBody>
      </p:sp>
      <p:sp>
        <p:nvSpPr>
          <p:cNvPr id="3" name="Text 1"/>
          <p:cNvSpPr/>
          <p:nvPr/>
        </p:nvSpPr>
        <p:spPr>
          <a:xfrm>
            <a:off x="812800" y="978005"/>
            <a:ext cx="10883392" cy="433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18"/>
              </a:lnSpc>
              <a:buNone/>
            </a:pPr>
            <a:r>
              <a:rPr lang="en-US" sz="3218" b="1" dirty="0">
                <a:solidFill>
                  <a:srgbClr val="0D2A5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Chi sta dove</a:t>
            </a:r>
            <a:endParaRPr lang="en-US" sz="3218" dirty="0"/>
          </a:p>
        </p:txBody>
      </p:sp>
      <p:sp>
        <p:nvSpPr>
          <p:cNvPr id="4" name="Shape 2"/>
          <p:cNvSpPr/>
          <p:nvPr/>
        </p:nvSpPr>
        <p:spPr>
          <a:xfrm>
            <a:off x="812800" y="1639677"/>
            <a:ext cx="10566400" cy="3202199"/>
          </a:xfrm>
          <a:custGeom>
            <a:avLst/>
            <a:gdLst/>
            <a:ahLst/>
            <a:cxnLst/>
            <a:rect l="l" t="t" r="r" b="b"/>
            <a:pathLst>
              <a:path w="10566400" h="3202199">
                <a:moveTo>
                  <a:pt x="10490200" y="0"/>
                </a:moveTo>
                <a:lnTo>
                  <a:pt x="10490200" y="0"/>
                </a:lnTo>
                <a:arcTo wR="76200" hR="76200" stAng="16200000" swAng="5400000"/>
                <a:lnTo>
                  <a:pt x="10566400" y="3125999"/>
                </a:lnTo>
                <a:arcTo wR="76200" hR="76200" stAng="0" swAng="5400000"/>
                <a:lnTo>
                  <a:pt x="76200" y="3202199"/>
                </a:lnTo>
                <a:arcTo wR="76200" hR="76200" stAng="5400000" swAng="5400000"/>
                <a:lnTo>
                  <a:pt x="0" y="3125999"/>
                </a:lnTo>
                <a:arcTo wR="76200" hR="69850" stAng="10800000" swAng="-5400000"/>
                <a:lnTo>
                  <a:pt x="10490200" y="3195849"/>
                </a:lnTo>
                <a:arcTo wR="69850" hR="69850" stAng="5400000" swAng="-5400000"/>
                <a:lnTo>
                  <a:pt x="10560050" y="76200"/>
                </a:lnTo>
                <a:arcTo wR="69850" hR="76200" stAng="0" swAng="-5400000"/>
                <a:close/>
              </a:path>
            </a:pathLst>
          </a:custGeom>
          <a:solidFill>
            <a:srgbClr val="D0D8E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812800" y="1639677"/>
            <a:ext cx="10566400" cy="3202199"/>
          </a:xfrm>
          <a:custGeom>
            <a:avLst/>
            <a:gdLst/>
            <a:ahLst/>
            <a:cxnLst/>
            <a:rect l="l" t="t" r="r" b="b"/>
            <a:pathLst>
              <a:path w="10566400" h="3202199">
                <a:moveTo>
                  <a:pt x="76200" y="3202199"/>
                </a:moveTo>
                <a:lnTo>
                  <a:pt x="76200" y="3202199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10490200" y="0"/>
                </a:lnTo>
                <a:arcTo wR="76200" hR="76200" stAng="16200000" swAng="5400000"/>
                <a:lnTo>
                  <a:pt x="10566400" y="76200"/>
                </a:lnTo>
                <a:arcTo wR="76200" hR="63500" stAng="0" swAng="-5400000"/>
                <a:lnTo>
                  <a:pt x="76200" y="12700"/>
                </a:lnTo>
                <a:arcTo wR="63500" hR="63500" stAng="16200000" swAng="-5400000"/>
                <a:lnTo>
                  <a:pt x="12700" y="3125999"/>
                </a:lnTo>
                <a:arcTo wR="63500" hR="76200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  <p:txBody>
          <a:bodyPr/>
          <a:lstStyle/>
          <a:p>
            <a:endParaRPr lang="it-IT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652377"/>
          <a:ext cx="10548620" cy="3184418"/>
        </p:xfrm>
        <a:graphic>
          <a:graphicData uri="http://schemas.openxmlformats.org/drawingml/2006/table">
            <a:tbl>
              <a:tblPr/>
              <a:tblGrid>
                <a:gridCol w="10548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06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22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645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261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8308">
                <a:tc>
                  <a:txBody>
                    <a:bodyPr/>
                    <a:lstStyle/>
                    <a:p>
                      <a:pPr marL="0" indent="0">
                        <a:lnSpc>
                          <a:spcPts val="1473"/>
                        </a:lnSpc>
                        <a:buNone/>
                      </a:pPr>
                      <a:r>
                        <a:rPr lang="en-US" sz="1052" b="1" dirty="0">
                          <a:solidFill>
                            <a:srgbClr val="0D2A5E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ACCESSO</a:t>
                      </a:r>
                      <a:endParaRPr lang="en-US" sz="1052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52400" marR="152400" marT="114300" marB="11430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F2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F2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73"/>
                        </a:lnSpc>
                        <a:buNone/>
                      </a:pPr>
                      <a:r>
                        <a:rPr lang="en-US" sz="1052" b="1" dirty="0">
                          <a:solidFill>
                            <a:srgbClr val="0D2A5E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POSIZIONE</a:t>
                      </a:r>
                      <a:endParaRPr lang="en-US" sz="1052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0F2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2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F2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73"/>
                        </a:lnSpc>
                        <a:buNone/>
                      </a:pPr>
                      <a:r>
                        <a:rPr lang="en-US" sz="1052" b="1" dirty="0">
                          <a:solidFill>
                            <a:srgbClr val="0D2A5E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OPERATORI</a:t>
                      </a:r>
                      <a:endParaRPr lang="en-US" sz="1052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0F2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2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F2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73"/>
                        </a:lnSpc>
                        <a:buNone/>
                      </a:pPr>
                      <a:r>
                        <a:rPr lang="en-US" sz="1052" b="1" dirty="0">
                          <a:solidFill>
                            <a:srgbClr val="0D2A5E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COMPITO PRINCIPALE</a:t>
                      </a:r>
                      <a:endParaRPr lang="en-US" sz="1052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0F2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2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F2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73"/>
                        </a:lnSpc>
                        <a:buNone/>
                      </a:pPr>
                      <a:r>
                        <a:rPr lang="en-US" sz="1052" b="1" dirty="0">
                          <a:solidFill>
                            <a:srgbClr val="0D2A5E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TITOLI VALIDI</a:t>
                      </a:r>
                      <a:endParaRPr lang="en-US" sz="1052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0F2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2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F2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307">
                <a:tc>
                  <a:txBody>
                    <a:bodyPr/>
                    <a:lstStyle/>
                    <a:p>
                      <a:pPr marL="0" indent="0">
                        <a:lnSpc>
                          <a:spcPts val="1473"/>
                        </a:lnSpc>
                        <a:buNone/>
                      </a:pPr>
                      <a:r>
                        <a:rPr lang="en-US" sz="1052" dirty="0">
                          <a:solidFill>
                            <a:srgbClr val="C9A84C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A</a:t>
                      </a:r>
                      <a:endParaRPr lang="en-US" sz="1052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52400" marR="152400" marT="114300" marB="11430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2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73"/>
                        </a:lnSpc>
                        <a:buNone/>
                      </a:pPr>
                      <a:r>
                        <a:rPr lang="en-US" sz="1052" dirty="0">
                          <a:solidFill>
                            <a:srgbClr val="0D2A5E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Dal parcheggio</a:t>
                      </a:r>
                      <a:endParaRPr lang="en-US" sz="1052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2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73"/>
                        </a:lnSpc>
                        <a:buNone/>
                      </a:pPr>
                      <a:r>
                        <a:rPr lang="en-US" sz="1052" dirty="0">
                          <a:solidFill>
                            <a:srgbClr val="0D2A5E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2</a:t>
                      </a:r>
                      <a:endParaRPr lang="en-US" sz="1052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2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73"/>
                        </a:lnSpc>
                        <a:buNone/>
                      </a:pPr>
                      <a:r>
                        <a:rPr lang="en-US" sz="1052" dirty="0">
                          <a:solidFill>
                            <a:srgbClr val="0D2A5E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Scanner QR + accoglienza premium</a:t>
                      </a:r>
                      <a:endParaRPr lang="en-US" sz="1052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2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73"/>
                        </a:lnSpc>
                        <a:buNone/>
                      </a:pPr>
                      <a:r>
                        <a:rPr lang="en-US" sz="1052" dirty="0">
                          <a:solidFill>
                            <a:srgbClr val="2A5A8A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VIP · Gold</a:t>
                      </a:r>
                      <a:endParaRPr lang="en-US" sz="1052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2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4574">
                <a:tc>
                  <a:txBody>
                    <a:bodyPr/>
                    <a:lstStyle/>
                    <a:p>
                      <a:pPr marL="0" indent="0">
                        <a:lnSpc>
                          <a:spcPts val="1473"/>
                        </a:lnSpc>
                        <a:buNone/>
                      </a:pPr>
                      <a:r>
                        <a:rPr lang="en-US" sz="1052" dirty="0">
                          <a:solidFill>
                            <a:srgbClr val="4A7AB0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B</a:t>
                      </a:r>
                      <a:endParaRPr lang="en-US" sz="1052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52400" marR="152400" marT="114300" marB="11430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D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73"/>
                        </a:lnSpc>
                        <a:buNone/>
                      </a:pPr>
                      <a:r>
                        <a:rPr lang="en-US" sz="1052" dirty="0">
                          <a:solidFill>
                            <a:srgbClr val="0D2A5E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Porta lato Bar (1)</a:t>
                      </a:r>
                      <a:endParaRPr lang="en-US" sz="1052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BD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73"/>
                        </a:lnSpc>
                        <a:buNone/>
                      </a:pPr>
                      <a:r>
                        <a:rPr lang="en-US" sz="1052" dirty="0">
                          <a:solidFill>
                            <a:srgbClr val="0D2A5E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2-3</a:t>
                      </a:r>
                      <a:endParaRPr lang="en-US" sz="1052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BD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73"/>
                        </a:lnSpc>
                        <a:buNone/>
                      </a:pPr>
                      <a:r>
                        <a:rPr lang="en-US" sz="1052" dirty="0">
                          <a:solidFill>
                            <a:srgbClr val="0D2A5E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Scanner QR abbonati (accesso più trafficato)</a:t>
                      </a:r>
                      <a:endParaRPr lang="en-US" sz="1052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BD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73"/>
                        </a:lnSpc>
                        <a:buNone/>
                      </a:pPr>
                      <a:r>
                        <a:rPr lang="en-US" sz="1052" dirty="0">
                          <a:solidFill>
                            <a:srgbClr val="2A5A8A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Base · Bronze · Cortesia · Disability · Servizio</a:t>
                      </a:r>
                      <a:endParaRPr lang="en-US" sz="1052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BD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308">
                <a:tc>
                  <a:txBody>
                    <a:bodyPr/>
                    <a:lstStyle/>
                    <a:p>
                      <a:pPr marL="0" indent="0">
                        <a:lnSpc>
                          <a:spcPts val="1473"/>
                        </a:lnSpc>
                        <a:buNone/>
                      </a:pPr>
                      <a:r>
                        <a:rPr lang="en-US" sz="1052" dirty="0">
                          <a:solidFill>
                            <a:srgbClr val="4A7AB0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C</a:t>
                      </a:r>
                      <a:endParaRPr lang="en-US" sz="1052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52400" marR="152400" marT="114300" marB="11430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73"/>
                        </a:lnSpc>
                        <a:buNone/>
                      </a:pPr>
                      <a:r>
                        <a:rPr lang="en-US" sz="1052" dirty="0">
                          <a:solidFill>
                            <a:srgbClr val="0D2A5E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Porta lato Bar (2)</a:t>
                      </a:r>
                      <a:endParaRPr lang="en-US" sz="1052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73"/>
                        </a:lnSpc>
                        <a:buNone/>
                      </a:pPr>
                      <a:r>
                        <a:rPr lang="en-US" sz="1052" dirty="0">
                          <a:solidFill>
                            <a:srgbClr val="0D2A5E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1-2</a:t>
                      </a:r>
                      <a:endParaRPr lang="en-US" sz="1052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73"/>
                        </a:lnSpc>
                        <a:buNone/>
                      </a:pPr>
                      <a:r>
                        <a:rPr lang="en-US" sz="1052" dirty="0">
                          <a:solidFill>
                            <a:srgbClr val="0D2A5E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Biglietti singoli + accrediti stampa</a:t>
                      </a:r>
                      <a:endParaRPr lang="en-US" sz="1052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73"/>
                        </a:lnSpc>
                        <a:buNone/>
                      </a:pPr>
                      <a:r>
                        <a:rPr lang="en-US" sz="1052" dirty="0">
                          <a:solidFill>
                            <a:srgbClr val="2A5A8A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Biglietto · Accredito</a:t>
                      </a:r>
                      <a:endParaRPr lang="en-US" sz="1052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307">
                <a:tc>
                  <a:txBody>
                    <a:bodyPr/>
                    <a:lstStyle/>
                    <a:p>
                      <a:pPr marL="0" indent="0">
                        <a:lnSpc>
                          <a:spcPts val="1473"/>
                        </a:lnSpc>
                        <a:buNone/>
                      </a:pPr>
                      <a:r>
                        <a:rPr lang="en-US" sz="1052" dirty="0">
                          <a:solidFill>
                            <a:srgbClr val="4A7AB0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D</a:t>
                      </a:r>
                      <a:endParaRPr lang="en-US" sz="1052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52400" marR="152400" marT="114300" marB="11430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D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73"/>
                        </a:lnSpc>
                        <a:buNone/>
                      </a:pPr>
                      <a:r>
                        <a:rPr lang="en-US" sz="1052" dirty="0">
                          <a:solidFill>
                            <a:srgbClr val="0D2A5E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Porta opposta Bar</a:t>
                      </a:r>
                      <a:endParaRPr lang="en-US" sz="1052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BD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73"/>
                        </a:lnSpc>
                        <a:buNone/>
                      </a:pPr>
                      <a:r>
                        <a:rPr lang="en-US" sz="1052" dirty="0">
                          <a:solidFill>
                            <a:srgbClr val="0D2A5E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1</a:t>
                      </a:r>
                      <a:endParaRPr lang="en-US" sz="1052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BD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73"/>
                        </a:lnSpc>
                        <a:buNone/>
                      </a:pPr>
                      <a:r>
                        <a:rPr lang="en-US" sz="1052" dirty="0">
                          <a:solidFill>
                            <a:srgbClr val="0D2A5E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Scanner QR tribune numerate</a:t>
                      </a:r>
                      <a:endParaRPr lang="en-US" sz="1052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BD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73"/>
                        </a:lnSpc>
                        <a:buNone/>
                      </a:pPr>
                      <a:r>
                        <a:rPr lang="en-US" sz="1052" dirty="0">
                          <a:solidFill>
                            <a:srgbClr val="2A5A8A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Silver · Gold</a:t>
                      </a:r>
                      <a:endParaRPr lang="en-US" sz="1052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BD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8307">
                <a:tc>
                  <a:txBody>
                    <a:bodyPr/>
                    <a:lstStyle/>
                    <a:p>
                      <a:pPr marL="0" indent="0">
                        <a:lnSpc>
                          <a:spcPts val="1473"/>
                        </a:lnSpc>
                        <a:buNone/>
                      </a:pPr>
                      <a:r>
                        <a:rPr lang="en-US" sz="1052" dirty="0">
                          <a:solidFill>
                            <a:srgbClr val="C05050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E</a:t>
                      </a:r>
                      <a:endParaRPr lang="en-US" sz="1052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52400" marR="152400" marT="114300" marB="11430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73"/>
                        </a:lnSpc>
                        <a:buNone/>
                      </a:pPr>
                      <a:r>
                        <a:rPr lang="en-US" sz="1052" dirty="0">
                          <a:solidFill>
                            <a:srgbClr val="0D2A5E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Cancello squadre</a:t>
                      </a:r>
                      <a:endParaRPr lang="en-US" sz="1052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73"/>
                        </a:lnSpc>
                        <a:buNone/>
                      </a:pPr>
                      <a:r>
                        <a:rPr lang="en-US" sz="1052" dirty="0">
                          <a:solidFill>
                            <a:srgbClr val="0D2A5E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1 + resp.</a:t>
                      </a:r>
                      <a:endParaRPr lang="en-US" sz="1052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73"/>
                        </a:lnSpc>
                        <a:buNone/>
                      </a:pPr>
                      <a:r>
                        <a:rPr lang="en-US" sz="1052" dirty="0">
                          <a:solidFill>
                            <a:srgbClr val="0D2A5E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Lista FIP + chiusura −45 min</a:t>
                      </a:r>
                      <a:endParaRPr lang="en-US" sz="1052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73"/>
                        </a:lnSpc>
                        <a:buNone/>
                      </a:pPr>
                      <a:r>
                        <a:rPr lang="en-US" sz="1052" dirty="0">
                          <a:solidFill>
                            <a:srgbClr val="2A5A8A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Squadre · Arbitri · Lista FIP</a:t>
                      </a:r>
                      <a:endParaRPr lang="en-US" sz="1052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8307">
                <a:tc>
                  <a:txBody>
                    <a:bodyPr/>
                    <a:lstStyle/>
                    <a:p>
                      <a:pPr marL="0" indent="0">
                        <a:lnSpc>
                          <a:spcPts val="1473"/>
                        </a:lnSpc>
                        <a:buNone/>
                      </a:pPr>
                      <a:r>
                        <a:rPr lang="en-US" sz="1052" dirty="0">
                          <a:solidFill>
                            <a:srgbClr val="8A60B0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F</a:t>
                      </a:r>
                      <a:endParaRPr lang="en-US" sz="1052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52400" marR="152400" marT="114300" marB="11430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D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73"/>
                        </a:lnSpc>
                        <a:buNone/>
                      </a:pPr>
                      <a:r>
                        <a:rPr lang="en-US" sz="1052" dirty="0">
                          <a:solidFill>
                            <a:srgbClr val="0D2A5E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Ingresso posteriore</a:t>
                      </a:r>
                      <a:endParaRPr lang="en-US" sz="1052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BD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73"/>
                        </a:lnSpc>
                        <a:buNone/>
                      </a:pPr>
                      <a:r>
                        <a:rPr lang="en-US" sz="1052" dirty="0">
                          <a:solidFill>
                            <a:srgbClr val="0D2A5E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0-1</a:t>
                      </a:r>
                      <a:endParaRPr lang="en-US" sz="1052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BD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73"/>
                        </a:lnSpc>
                        <a:buNone/>
                      </a:pPr>
                      <a:r>
                        <a:rPr lang="en-US" sz="1052" dirty="0">
                          <a:solidFill>
                            <a:srgbClr val="0D2A5E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Attivo solo su indicazione società</a:t>
                      </a:r>
                      <a:endParaRPr lang="en-US" sz="1052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BD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73"/>
                        </a:lnSpc>
                        <a:buNone/>
                      </a:pPr>
                      <a:r>
                        <a:rPr lang="en-US" sz="1052" dirty="0">
                          <a:solidFill>
                            <a:srgbClr val="2A5A8A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Tifosi ospiti</a:t>
                      </a:r>
                      <a:endParaRPr lang="en-US" sz="1052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BD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12800" y="5095875"/>
            <a:ext cx="10566400" cy="746125"/>
          </a:xfrm>
          <a:prstGeom prst="roundRect">
            <a:avLst>
              <a:gd name="adj" fmla="val 10213"/>
            </a:avLst>
          </a:prstGeom>
          <a:solidFill>
            <a:srgbClr val="C9A84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5"/>
          <p:cNvSpPr/>
          <p:nvPr/>
        </p:nvSpPr>
        <p:spPr>
          <a:xfrm>
            <a:off x="1041400" y="5273675"/>
            <a:ext cx="10412476" cy="415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29"/>
              </a:lnSpc>
              <a:buNone/>
            </a:pPr>
            <a:r>
              <a:rPr lang="en-US" sz="1235" b="1" dirty="0">
                <a:solidFill>
                  <a:srgbClr val="0D2A5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📋 L'assegnazione definitiva degli operatori per ogni gara viene comunicata dal responsabile gara via messaggio prima dell'evento.</a:t>
            </a:r>
            <a:endParaRPr lang="en-US" sz="1235" dirty="0"/>
          </a:p>
        </p:txBody>
      </p:sp>
      <p:sp>
        <p:nvSpPr>
          <p:cNvPr id="9" name="Text 6"/>
          <p:cNvSpPr/>
          <p:nvPr/>
        </p:nvSpPr>
        <p:spPr>
          <a:xfrm>
            <a:off x="812800" y="6238242"/>
            <a:ext cx="295052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A8A8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Totale indicativo: 8-10 operatori per gara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kern="0" spc="150" dirty="0">
                <a:solidFill>
                  <a:srgbClr val="C9A84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GIORNO DELLA GARA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12800" y="1008379"/>
            <a:ext cx="10883392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800" b="1" dirty="0">
                <a:solidFill>
                  <a:srgbClr val="0D2A5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Checklist operatore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12800" y="1719579"/>
            <a:ext cx="5181600" cy="501756"/>
          </a:xfrm>
          <a:prstGeom prst="roundRect">
            <a:avLst>
              <a:gd name="adj" fmla="val 15187"/>
            </a:avLst>
          </a:prstGeom>
          <a:solidFill>
            <a:srgbClr val="0D2A5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996950" y="1824459"/>
            <a:ext cx="292100" cy="292100"/>
          </a:xfrm>
          <a:prstGeom prst="roundRect">
            <a:avLst>
              <a:gd name="adj" fmla="val 15217"/>
            </a:avLst>
          </a:prstGeom>
          <a:solidFill>
            <a:srgbClr val="1A3A70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1422400" y="1854833"/>
            <a:ext cx="252975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5F5F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Webapp installata e funzionante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12800" y="2322934"/>
            <a:ext cx="5181600" cy="501862"/>
          </a:xfrm>
          <a:prstGeom prst="roundRect">
            <a:avLst>
              <a:gd name="adj" fmla="val 15183"/>
            </a:avLst>
          </a:prstGeom>
          <a:solidFill>
            <a:srgbClr val="0D2A5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996950" y="2427815"/>
            <a:ext cx="292100" cy="292100"/>
          </a:xfrm>
          <a:prstGeom prst="roundRect">
            <a:avLst>
              <a:gd name="adj" fmla="val 15217"/>
            </a:avLst>
          </a:prstGeom>
          <a:solidFill>
            <a:srgbClr val="1A3A70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1422400" y="2458300"/>
            <a:ext cx="2633859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5F5F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Credenziali operatore funzionanti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2800" y="2926395"/>
            <a:ext cx="5181600" cy="501756"/>
          </a:xfrm>
          <a:prstGeom prst="roundRect">
            <a:avLst>
              <a:gd name="adj" fmla="val 15187"/>
            </a:avLst>
          </a:prstGeom>
          <a:solidFill>
            <a:srgbClr val="0D2A5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996950" y="3031275"/>
            <a:ext cx="292100" cy="292100"/>
          </a:xfrm>
          <a:prstGeom prst="roundRect">
            <a:avLst>
              <a:gd name="adj" fmla="val 15217"/>
            </a:avLst>
          </a:prstGeom>
          <a:solidFill>
            <a:srgbClr val="1A3A70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1422400" y="3061655"/>
            <a:ext cx="232089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5F5F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Telefono carico (almeno 80%)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2800" y="3529750"/>
            <a:ext cx="5181600" cy="501862"/>
          </a:xfrm>
          <a:prstGeom prst="roundRect">
            <a:avLst>
              <a:gd name="adj" fmla="val 15183"/>
            </a:avLst>
          </a:prstGeom>
          <a:solidFill>
            <a:srgbClr val="0D2A5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996950" y="3634637"/>
            <a:ext cx="292100" cy="292100"/>
          </a:xfrm>
          <a:prstGeom prst="roundRect">
            <a:avLst>
              <a:gd name="adj" fmla="val 15217"/>
            </a:avLst>
          </a:prstGeom>
          <a:solidFill>
            <a:srgbClr val="1A3A70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1422400" y="3665116"/>
            <a:ext cx="364949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5F5F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Scanner QR testato (prova con un QR di prova)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2800" y="4133217"/>
            <a:ext cx="5181600" cy="501862"/>
          </a:xfrm>
          <a:prstGeom prst="roundRect">
            <a:avLst>
              <a:gd name="adj" fmla="val 15183"/>
            </a:avLst>
          </a:prstGeom>
          <a:solidFill>
            <a:srgbClr val="0D2A5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996950" y="4238098"/>
            <a:ext cx="292100" cy="292100"/>
          </a:xfrm>
          <a:prstGeom prst="roundRect">
            <a:avLst>
              <a:gd name="adj" fmla="val 15217"/>
            </a:avLst>
          </a:prstGeom>
          <a:solidFill>
            <a:srgbClr val="1A3A70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1422400" y="4268577"/>
            <a:ext cx="3553345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5F5F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Accesso assegnato ricevuto dal responsabile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12800" y="4736678"/>
            <a:ext cx="5181600" cy="501862"/>
          </a:xfrm>
          <a:prstGeom prst="roundRect">
            <a:avLst>
              <a:gd name="adj" fmla="val 15183"/>
            </a:avLst>
          </a:prstGeom>
          <a:solidFill>
            <a:srgbClr val="0D2A5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0" name="Shape 18"/>
          <p:cNvSpPr/>
          <p:nvPr/>
        </p:nvSpPr>
        <p:spPr>
          <a:xfrm>
            <a:off x="996950" y="4841559"/>
            <a:ext cx="292100" cy="292100"/>
          </a:xfrm>
          <a:prstGeom prst="roundRect">
            <a:avLst>
              <a:gd name="adj" fmla="val 15217"/>
            </a:avLst>
          </a:prstGeom>
          <a:solidFill>
            <a:srgbClr val="1A3A70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1422400" y="4872038"/>
            <a:ext cx="264301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5F5F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In posizione 2 ore prima dell'inizio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12800" y="5340139"/>
            <a:ext cx="5181600" cy="501862"/>
          </a:xfrm>
          <a:prstGeom prst="roundRect">
            <a:avLst>
              <a:gd name="adj" fmla="val 15183"/>
            </a:avLst>
          </a:prstGeom>
          <a:solidFill>
            <a:srgbClr val="0D2A5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3" name="Shape 21"/>
          <p:cNvSpPr/>
          <p:nvPr/>
        </p:nvSpPr>
        <p:spPr>
          <a:xfrm>
            <a:off x="996950" y="5445020"/>
            <a:ext cx="292100" cy="292100"/>
          </a:xfrm>
          <a:prstGeom prst="roundRect">
            <a:avLst>
              <a:gd name="adj" fmla="val 15217"/>
            </a:avLst>
          </a:prstGeom>
          <a:solidFill>
            <a:srgbClr val="1A3A70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1422400" y="5475498"/>
            <a:ext cx="296066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5F5F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Numero del responsabile gara salvato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197600" y="1719579"/>
            <a:ext cx="5181600" cy="4122420"/>
          </a:xfrm>
          <a:prstGeom prst="roundRect">
            <a:avLst>
              <a:gd name="adj" fmla="val 2157"/>
            </a:avLst>
          </a:prstGeom>
          <a:solidFill>
            <a:srgbClr val="C9A84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6426200" y="1948179"/>
            <a:ext cx="486613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D2A5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SE HAI PROBLEMI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26200" y="2161542"/>
            <a:ext cx="4724400" cy="627380"/>
          </a:xfrm>
          <a:prstGeom prst="roundRect">
            <a:avLst>
              <a:gd name="adj" fmla="val 8097"/>
            </a:avLst>
          </a:prstGeom>
          <a:solidFill>
            <a:srgbClr val="FFF3C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6553200" y="2288542"/>
            <a:ext cx="460451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5A400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📵 Niente connessione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553200" y="2484121"/>
            <a:ext cx="4604512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7A5A0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La webapp funziona offline se già sincronizzata. Contatta il responsabile.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26200" y="2865121"/>
            <a:ext cx="4724400" cy="627380"/>
          </a:xfrm>
          <a:prstGeom prst="roundRect">
            <a:avLst>
              <a:gd name="adj" fmla="val 8097"/>
            </a:avLst>
          </a:prstGeom>
          <a:solidFill>
            <a:srgbClr val="FFF3C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1" name="Text 29"/>
          <p:cNvSpPr/>
          <p:nvPr/>
        </p:nvSpPr>
        <p:spPr>
          <a:xfrm>
            <a:off x="6553200" y="2992121"/>
            <a:ext cx="460451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5A400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🔋 Telefono scarico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553200" y="3187700"/>
            <a:ext cx="4604512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7A5A0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Chiedi un power bank al responsabile. Sempre portarne uno di riserva.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426200" y="3568700"/>
            <a:ext cx="4724400" cy="627380"/>
          </a:xfrm>
          <a:prstGeom prst="roundRect">
            <a:avLst>
              <a:gd name="adj" fmla="val 8097"/>
            </a:avLst>
          </a:prstGeom>
          <a:solidFill>
            <a:srgbClr val="FFF3C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6553200" y="3695700"/>
            <a:ext cx="460451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5A400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❓ QR non riconosciuto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553200" y="3891279"/>
            <a:ext cx="4604512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7A5A0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Non aprire mai manualmente. Indirizzare al banchetto società.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426200" y="4272279"/>
            <a:ext cx="4724400" cy="627380"/>
          </a:xfrm>
          <a:prstGeom prst="roundRect">
            <a:avLst>
              <a:gd name="adj" fmla="val 8097"/>
            </a:avLst>
          </a:prstGeom>
          <a:solidFill>
            <a:srgbClr val="FFF3C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7" name="Text 35"/>
          <p:cNvSpPr/>
          <p:nvPr/>
        </p:nvSpPr>
        <p:spPr>
          <a:xfrm>
            <a:off x="6553200" y="4399279"/>
            <a:ext cx="460451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5A400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😤 Tifoso insistente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553200" y="4594858"/>
            <a:ext cx="4604512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7A5A0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Mantieni calma. Chiama il responsabile gara — non decidere da solo.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12800" y="6238242"/>
            <a:ext cx="487583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A8A8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Stampare questa checklist o salvarla come screenshot sul telefono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2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kern="0" spc="150" dirty="0">
                <a:solidFill>
                  <a:srgbClr val="C9A84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RIEPILOGO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12800" y="1211579"/>
            <a:ext cx="10883392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4000" b="1" dirty="0">
                <a:solidFill>
                  <a:srgbClr val="F5F5F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Pronti per la</a:t>
            </a:r>
            <a:endParaRPr lang="en-US" sz="40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4000" b="1" dirty="0">
                <a:solidFill>
                  <a:srgbClr val="F5F5F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prima gara!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12800" y="2430779"/>
            <a:ext cx="2527300" cy="977900"/>
          </a:xfrm>
          <a:prstGeom prst="roundRect">
            <a:avLst>
              <a:gd name="adj" fmla="val 7792"/>
            </a:avLst>
          </a:prstGeom>
          <a:solidFill>
            <a:srgbClr val="1A3A7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1016000" y="2608579"/>
            <a:ext cx="218452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C9A84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📲 Webapp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6000" y="2839721"/>
            <a:ext cx="2184527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A8C4E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virtusfanmolfetta.com</a:t>
            </a:r>
            <a:endParaRPr lang="en-US" sz="1100" dirty="0"/>
          </a:p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A8C4E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Aggiungi a schermata Home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92500" y="2430779"/>
            <a:ext cx="2527300" cy="977900"/>
          </a:xfrm>
          <a:prstGeom prst="roundRect">
            <a:avLst>
              <a:gd name="adj" fmla="val 7792"/>
            </a:avLst>
          </a:prstGeom>
          <a:solidFill>
            <a:srgbClr val="1A3A7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3695700" y="2608579"/>
            <a:ext cx="218452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C9A84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⏰ Orari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95700" y="2839721"/>
            <a:ext cx="2184527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A8C4E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In posizione −2h</a:t>
            </a:r>
            <a:endParaRPr lang="en-US" sz="1100" dirty="0"/>
          </a:p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A8C4E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Cancelli aprono −60 min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72200" y="2430779"/>
            <a:ext cx="2527300" cy="977900"/>
          </a:xfrm>
          <a:prstGeom prst="roundRect">
            <a:avLst>
              <a:gd name="adj" fmla="val 7792"/>
            </a:avLst>
          </a:prstGeom>
          <a:solidFill>
            <a:srgbClr val="1A3A7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6375400" y="2608579"/>
            <a:ext cx="218452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C9A84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🚦 Scanner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75400" y="2839721"/>
            <a:ext cx="2184527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A8C4E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Verde ✓ = passa</a:t>
            </a:r>
            <a:endParaRPr lang="en-US" sz="1100" dirty="0"/>
          </a:p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A8C4E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Rosso ✗ = banchetto società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851900" y="2430779"/>
            <a:ext cx="2527300" cy="977900"/>
          </a:xfrm>
          <a:prstGeom prst="roundRect">
            <a:avLst>
              <a:gd name="adj" fmla="val 7792"/>
            </a:avLst>
          </a:prstGeom>
          <a:solidFill>
            <a:srgbClr val="1A3A7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9055100" y="2608579"/>
            <a:ext cx="218452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C9A84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🚫 Regola d'oro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055100" y="2839721"/>
            <a:ext cx="2184527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A8C4E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Mai aprire senza</a:t>
            </a:r>
            <a:endParaRPr lang="en-US" sz="1100" dirty="0"/>
          </a:p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A8C4E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conferma verde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12800" y="5511800"/>
            <a:ext cx="2670486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A8C4E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Per qualsiasi dubbio o problema:</a:t>
            </a:r>
            <a:endParaRPr lang="en-US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A8C4E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contatta il </a:t>
            </a:r>
            <a:r>
              <a:rPr lang="en-US" sz="1400" b="1" dirty="0">
                <a:solidFill>
                  <a:srgbClr val="A8C4E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responsabile gara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795157" y="5538471"/>
            <a:ext cx="258404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C9A84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VIRTUS MOLFETTA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795157" y="5822950"/>
            <a:ext cx="258404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540"/>
              </a:lnSpc>
              <a:buNone/>
            </a:pPr>
            <a:r>
              <a:rPr lang="en-US" sz="1100" dirty="0" err="1">
                <a:solidFill>
                  <a:srgbClr val="6A8AB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Stagione</a:t>
            </a:r>
            <a:r>
              <a:rPr lang="en-US" sz="1100" dirty="0">
                <a:solidFill>
                  <a:srgbClr val="6A8AB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2026/2027 · Forza Virtus! 🏀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1674</Words>
  <Application>Microsoft Office PowerPoint</Application>
  <PresentationFormat>Widescreen</PresentationFormat>
  <Paragraphs>302</Paragraphs>
  <Slides>12</Slides>
  <Notes>12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12</vt:i4>
      </vt:variant>
    </vt:vector>
  </HeadingPairs>
  <TitlesOfParts>
    <vt:vector size="16" baseType="lpstr">
      <vt:lpstr>Arial</vt:lpstr>
      <vt:lpstr>Oswald</vt:lpstr>
      <vt:lpstr>Rubik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Formazione Operatori Virtus Molfetta</dc:title>
  <dc:subject>PptxGenJS Presentation</dc:subject>
  <dc:creator>PptxGenJS</dc:creator>
  <cp:lastModifiedBy>Nicolò de ROBERTIS</cp:lastModifiedBy>
  <cp:revision>5</cp:revision>
  <dcterms:created xsi:type="dcterms:W3CDTF">2026-09-29T20:57:17Z</dcterms:created>
  <dcterms:modified xsi:type="dcterms:W3CDTF">2026-10-02T08:42:13Z</dcterms:modified>
</cp:coreProperties>
</file>