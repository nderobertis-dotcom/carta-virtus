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7099300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92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35" tIns="55468" rIns="110935" bIns="5546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35" tIns="55468" rIns="110935" bIns="5546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4" y="-26656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586" y="210546"/>
            <a:ext cx="3200400" cy="4572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9107" y="187607"/>
            <a:ext cx="3474720" cy="43891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508" y="182880"/>
            <a:ext cx="640080" cy="6400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436308" y="201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VIRTUS BASKET MOLFETTA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2286000" y="796977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GRATTA</a:t>
            </a:r>
            <a:endParaRPr lang="en-US" sz="5400" dirty="0"/>
          </a:p>
        </p:txBody>
      </p:sp>
      <p:sp>
        <p:nvSpPr>
          <p:cNvPr id="9" name="Text 4"/>
          <p:cNvSpPr txBox="1"/>
          <p:nvPr/>
        </p:nvSpPr>
        <p:spPr>
          <a:xfrm>
            <a:off x="292608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VINCI</a:t>
            </a:r>
            <a:endParaRPr lang="en-US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2673017" y="2578608"/>
            <a:ext cx="28133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VIRTUS</a:t>
            </a:r>
            <a:endParaRPr lang="en-US" sz="5400" dirty="0"/>
          </a:p>
        </p:txBody>
      </p:sp>
      <p:sp>
        <p:nvSpPr>
          <p:cNvPr id="11" name="Text 6"/>
          <p:cNvSpPr txBox="1"/>
          <p:nvPr/>
        </p:nvSpPr>
        <p:spPr>
          <a:xfrm>
            <a:off x="0" y="4480560"/>
            <a:ext cx="708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lotteria del tifoso  —  Stagione 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Concept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97280"/>
            <a:ext cx="2560320" cy="3749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108960" y="1143000"/>
            <a:ext cx="5760720" cy="804672"/>
          </a:xfrm>
          <a:prstGeom prst="rect">
            <a:avLst/>
          </a:prstGeom>
          <a:solidFill>
            <a:srgbClr val="EE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 txBox="1"/>
          <p:nvPr/>
        </p:nvSpPr>
        <p:spPr>
          <a:xfrm>
            <a:off x="324612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🎟️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379476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ticket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79476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54×85mm con area raschiabile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108960" y="2103120"/>
            <a:ext cx="576072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 txBox="1"/>
          <p:nvPr/>
        </p:nvSpPr>
        <p:spPr>
          <a:xfrm>
            <a:off x="3246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9476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€ 3,00 a ticket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794760" y="25237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Ricavo totale stimato: € 6.000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108960" y="3063240"/>
            <a:ext cx="5760720" cy="804672"/>
          </a:xfrm>
          <a:prstGeom prst="rect">
            <a:avLst/>
          </a:prstGeom>
          <a:solidFill>
            <a:srgbClr val="EE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 txBox="1"/>
          <p:nvPr/>
        </p:nvSpPr>
        <p:spPr>
          <a:xfrm>
            <a:off x="32461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379476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Obiettivo</a:t>
            </a:r>
            <a:r>
              <a:rPr lang="en-US" sz="16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~100% vincenti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794760" y="34838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 immediati in natura dagli sponsor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108960" y="4023360"/>
            <a:ext cx="576072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 txBox="1"/>
          <p:nvPr/>
        </p:nvSpPr>
        <p:spPr>
          <a:xfrm>
            <a:off x="324612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379476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04/04/2027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3794760" y="4443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Estrazione finale pubblica al PalaPoli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Economico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1965960" cy="1463040"/>
          </a:xfrm>
          <a:prstGeom prst="rect">
            <a:avLst/>
          </a:prstGeom>
          <a:solidFill>
            <a:srgbClr val="1E4D8C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 txBox="1"/>
          <p:nvPr/>
        </p:nvSpPr>
        <p:spPr>
          <a:xfrm>
            <a:off x="274320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50592" y="1097280"/>
            <a:ext cx="1965960" cy="1463040"/>
          </a:xfrm>
          <a:prstGeom prst="rect">
            <a:avLst/>
          </a:prstGeom>
          <a:solidFill>
            <a:srgbClr val="1E4D8C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 txBox="1"/>
          <p:nvPr/>
        </p:nvSpPr>
        <p:spPr>
          <a:xfrm>
            <a:off x="2450592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450592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26864" y="1097280"/>
            <a:ext cx="1965960" cy="1463040"/>
          </a:xfrm>
          <a:prstGeom prst="rect">
            <a:avLst/>
          </a:prstGeom>
          <a:solidFill>
            <a:srgbClr val="F57C00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4626864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€ 6.000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626864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Ricavo lordo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03136" y="1097280"/>
            <a:ext cx="1965960" cy="1463040"/>
          </a:xfrm>
          <a:prstGeom prst="rect">
            <a:avLst/>
          </a:prstGeom>
          <a:solidFill>
            <a:srgbClr val="F57C00"/>
          </a:solidFill>
          <a:ln w="12700">
            <a:solidFill>
              <a:srgbClr val="2A5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6803136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€ 4.800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803136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Margine netto est.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27889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Voci di costo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3246120"/>
            <a:ext cx="8595360" cy="384048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 txBox="1"/>
          <p:nvPr/>
        </p:nvSpPr>
        <p:spPr>
          <a:xfrm>
            <a:off x="411480" y="33192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Stampa 2.000 card (tipografia specializzata)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3319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€ 800 – 1.200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3675888"/>
            <a:ext cx="8595360" cy="38404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 txBox="1"/>
          <p:nvPr/>
        </p:nvSpPr>
        <p:spPr>
          <a:xfrm>
            <a:off x="411480" y="3749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 one shot (in natura da sponsor)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4320" y="4105656"/>
            <a:ext cx="8595360" cy="384048"/>
          </a:xfrm>
          <a:prstGeom prst="rect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 txBox="1"/>
          <p:nvPr/>
        </p:nvSpPr>
        <p:spPr>
          <a:xfrm>
            <a:off x="411480" y="41788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Premio estrazione finale (in natura da sponsor)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4178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74320" y="4535424"/>
            <a:ext cx="8595360" cy="38404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 txBox="1"/>
          <p:nvPr/>
        </p:nvSpPr>
        <p:spPr>
          <a:xfrm>
            <a:off x="411480" y="46085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Notaio / Comunicazione / Promozione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4608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€ 400 – 700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Struttura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Premi (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 Titolo di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non 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vincolante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822960"/>
            <a:ext cx="283464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1051560"/>
            <a:ext cx="5669280" cy="576072"/>
          </a:xfrm>
          <a:prstGeom prst="rect">
            <a:avLst/>
          </a:prstGeom>
          <a:solidFill>
            <a:srgbClr val="F57C0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274320" y="1051560"/>
            <a:ext cx="1005840" cy="57607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 txBox="1"/>
          <p:nvPr/>
        </p:nvSpPr>
        <p:spPr>
          <a:xfrm>
            <a:off x="274320" y="1143000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1612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Maglie da gara autografate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74320" y="1719072"/>
            <a:ext cx="5669280" cy="576072"/>
          </a:xfrm>
          <a:prstGeom prst="rect">
            <a:avLst/>
          </a:prstGeom>
          <a:solidFill>
            <a:srgbClr val="E6510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274320" y="1719072"/>
            <a:ext cx="1005840" cy="57607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 txBox="1"/>
          <p:nvPr/>
        </p:nvSpPr>
        <p:spPr>
          <a:xfrm>
            <a:off x="274320" y="1810512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Abbonamenti Fan Card Silver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74320" y="2386584"/>
            <a:ext cx="5669280" cy="576072"/>
          </a:xfrm>
          <a:prstGeom prst="rect">
            <a:avLst/>
          </a:prstGeom>
          <a:solidFill>
            <a:srgbClr val="1A3A6B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274320" y="2386584"/>
            <a:ext cx="1005840" cy="57607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 txBox="1"/>
          <p:nvPr/>
        </p:nvSpPr>
        <p:spPr>
          <a:xfrm>
            <a:off x="274320" y="247802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2496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Gadget Virtus (zaino, felpa)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74320" y="3054096"/>
            <a:ext cx="5669280" cy="576072"/>
          </a:xfrm>
          <a:prstGeom prst="rect">
            <a:avLst/>
          </a:prstGeom>
          <a:solidFill>
            <a:srgbClr val="1565C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274320" y="3054096"/>
            <a:ext cx="1005840" cy="57607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 txBox="1"/>
          <p:nvPr/>
        </p:nvSpPr>
        <p:spPr>
          <a:xfrm>
            <a:off x="274320" y="314553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417320" y="31638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sponsor locali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274320" y="3721608"/>
            <a:ext cx="5669280" cy="576072"/>
          </a:xfrm>
          <a:prstGeom prst="rect">
            <a:avLst/>
          </a:prstGeom>
          <a:solidFill>
            <a:srgbClr val="1976D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0"/>
          <p:cNvSpPr/>
          <p:nvPr/>
        </p:nvSpPr>
        <p:spPr>
          <a:xfrm>
            <a:off x="274320" y="3721608"/>
            <a:ext cx="1005840" cy="57607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 txBox="1"/>
          <p:nvPr/>
        </p:nvSpPr>
        <p:spPr>
          <a:xfrm>
            <a:off x="274320" y="3813048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417320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Gadget minori (portachiavi, pin)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274320" y="4389120"/>
            <a:ext cx="5669280" cy="576072"/>
          </a:xfrm>
          <a:prstGeom prst="rect">
            <a:avLst/>
          </a:prstGeom>
          <a:solidFill>
            <a:srgbClr val="78909C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4"/>
          <p:cNvSpPr/>
          <p:nvPr/>
        </p:nvSpPr>
        <p:spPr>
          <a:xfrm>
            <a:off x="274320" y="4389120"/>
            <a:ext cx="1005840" cy="57607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5"/>
          <p:cNvSpPr txBox="1"/>
          <p:nvPr/>
        </p:nvSpPr>
        <p:spPr>
          <a:xfrm>
            <a:off x="274320" y="4480560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~922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1417320" y="4498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premio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immediate </a:t>
            </a: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obiettivo</a:t>
            </a: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finale </a:t>
            </a:r>
            <a:r>
              <a:rPr lang="en-US" sz="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</a:t>
            </a: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essere</a:t>
            </a: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tutti </a:t>
            </a:r>
            <a:r>
              <a:rPr lang="en-US" sz="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vincono</a:t>
            </a: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qualcosa</a:t>
            </a: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74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Integrazione &amp; Tempistica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300000"/>
              </a:lnSpc>
              <a:buNone/>
            </a:pPr>
            <a:r>
              <a:rPr lang="en-US" sz="1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VIRTUS FAN CARD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0" y="1905393"/>
            <a:ext cx="4663440" cy="1529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Sezione dedicata su virtusfanmolfetta.com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0" y="3106331"/>
            <a:ext cx="4206240" cy="92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30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Regolamento e lista premi online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63440" y="1005840"/>
            <a:ext cx="0" cy="3840480"/>
          </a:xfrm>
          <a:prstGeom prst="line">
            <a:avLst/>
          </a:prstGeom>
          <a:noFill/>
          <a:ln w="12700">
            <a:solidFill>
              <a:srgbClr val="F57C00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TEMPISTICA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1581912"/>
            <a:ext cx="274320" cy="274320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 txBox="1"/>
          <p:nvPr/>
        </p:nvSpPr>
        <p:spPr>
          <a:xfrm>
            <a:off x="5212080" y="1536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2026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1536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Approvazione direttivo + consulenza legale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2167128"/>
            <a:ext cx="274320" cy="274320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 txBox="1"/>
          <p:nvPr/>
        </p:nvSpPr>
        <p:spPr>
          <a:xfrm>
            <a:off x="5212080" y="21214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Raccolta premi dagli sponsor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2752344"/>
            <a:ext cx="274320" cy="274320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 txBox="1"/>
          <p:nvPr/>
        </p:nvSpPr>
        <p:spPr>
          <a:xfrm>
            <a:off x="5212080" y="27066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2026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2706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Stampa 2.000 ticket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337560"/>
            <a:ext cx="274320" cy="274320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 txBox="1"/>
          <p:nvPr/>
        </p:nvSpPr>
        <p:spPr>
          <a:xfrm>
            <a:off x="5212080" y="3291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 2026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3291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Lancio vendite al PalaPoli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46320" y="3922776"/>
            <a:ext cx="274320" cy="274320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 txBox="1"/>
          <p:nvPr/>
        </p:nvSpPr>
        <p:spPr>
          <a:xfrm>
            <a:off x="5212080" y="38770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31/03/27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492240" y="3877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Chiusura vendite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46320" y="4507992"/>
            <a:ext cx="274320" cy="274320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 txBox="1"/>
          <p:nvPr/>
        </p:nvSpPr>
        <p:spPr>
          <a:xfrm>
            <a:off x="5212080" y="44622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04/04/27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4462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Estrazione finale pubblica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4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"/>
            <a:ext cx="3291840" cy="43891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57200"/>
            <a:ext cx="2834640" cy="41148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256" y="237374"/>
            <a:ext cx="984751" cy="98475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741512" y="1188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ticket.</a:t>
            </a:r>
            <a:endParaRPr lang="en-US" sz="2800" dirty="0"/>
          </a:p>
        </p:txBody>
      </p:sp>
      <p:sp>
        <p:nvSpPr>
          <p:cNvPr id="8" name="Text 3"/>
          <p:cNvSpPr txBox="1"/>
          <p:nvPr/>
        </p:nvSpPr>
        <p:spPr>
          <a:xfrm>
            <a:off x="2741512" y="17556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€ 3,00 ciascuno.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2741512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sogno da grattare.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2558632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VINCI CON LA VIRTUS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0" y="44622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virtusfanmolfetta.com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250</Words>
  <Application>Microsoft Office PowerPoint</Application>
  <PresentationFormat>Presentazione su schermo (16:9)</PresentationFormat>
  <Paragraphs>77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Nicolò de ROBERTIS</cp:lastModifiedBy>
  <cp:revision>4</cp:revision>
  <dcterms:created xsi:type="dcterms:W3CDTF">2026-09-02T13:42:54Z</dcterms:created>
  <dcterms:modified xsi:type="dcterms:W3CDTF">2026-09-06T14:46:26Z</dcterms:modified>
</cp:coreProperties>
</file>