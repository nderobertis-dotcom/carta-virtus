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7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2879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14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F57C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5862620" y="192328"/>
            <a:ext cx="3062059" cy="3115893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411480"/>
            <a:ext cx="1554480" cy="1554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21717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🏀  VIRTUS FAN CARD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5603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ROSTER</a:t>
            </a:r>
            <a:endParaRPr lang="en-US" sz="52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1546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MVP</a:t>
            </a:r>
            <a:endParaRPr lang="en-US" sz="5200" dirty="0"/>
          </a:p>
        </p:txBody>
      </p:sp>
      <p:sp>
        <p:nvSpPr>
          <p:cNvPr id="9" name="Text 6"/>
          <p:cNvSpPr txBox="1"/>
          <p:nvPr/>
        </p:nvSpPr>
        <p:spPr>
          <a:xfrm>
            <a:off x="0" y="446227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tifoso al centro. Sempre.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4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57C00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9728"/>
            <a:ext cx="640080" cy="640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399" y="182880"/>
            <a:ext cx="766273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</a:t>
            </a:r>
            <a:r>
              <a:rPr lang="en-US" sz="2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funziona</a:t>
            </a: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 il </a:t>
            </a:r>
            <a:r>
              <a:rPr lang="en-US" sz="2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Tifoso</a:t>
            </a: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possessore</a:t>
            </a: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 Fan Card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274320" y="1143000"/>
            <a:ext cx="4114800" cy="1508760"/>
          </a:xfrm>
          <a:prstGeom prst="rect">
            <a:avLst/>
          </a:prstGeom>
          <a:solidFill>
            <a:srgbClr val="EEF4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 txBox="1"/>
          <p:nvPr/>
        </p:nvSpPr>
        <p:spPr>
          <a:xfrm>
            <a:off x="411480" y="1307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🪑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1051560" y="13075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2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 presente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051560" y="1673352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Ingresso scansionato al PalaPoli: sei abilitato al voto per quella gara.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09160" y="1143000"/>
            <a:ext cx="4114800" cy="1508760"/>
          </a:xfrm>
          <a:prstGeom prst="rect">
            <a:avLst/>
          </a:prstGeom>
          <a:solidFill>
            <a:srgbClr val="FFF8E1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 txBox="1"/>
          <p:nvPr/>
        </p:nvSpPr>
        <p:spPr>
          <a:xfrm>
            <a:off x="4846320" y="1307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0" y="13075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2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Scegli il tuo MVP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0" y="1673352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 l'app, selezioni la card del giocatore: foto, numero maglia, ruolo.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74320" y="2834640"/>
            <a:ext cx="4114800" cy="1508760"/>
          </a:xfrm>
          <a:prstGeom prst="rect">
            <a:avLst/>
          </a:prstGeom>
          <a:solidFill>
            <a:srgbClr val="EEF4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 txBox="1"/>
          <p:nvPr/>
        </p:nvSpPr>
        <p:spPr>
          <a:xfrm>
            <a:off x="411480" y="2999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⚖️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1051560" y="29992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2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Decidi il peso del tuo voto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051560" y="3364992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pt = gratis + ricevi 1 pt credito (Bronze/Silver/Gold). Più punti = voto più "pesante".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709160" y="2834640"/>
            <a:ext cx="4114800" cy="1508760"/>
          </a:xfrm>
          <a:prstGeom prst="rect">
            <a:avLst/>
          </a:prstGeom>
          <a:solidFill>
            <a:srgbClr val="FFF8E1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7"/>
          <p:cNvSpPr txBox="1"/>
          <p:nvPr/>
        </p:nvSpPr>
        <p:spPr>
          <a:xfrm>
            <a:off x="4846320" y="2999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🏆</a:t>
            </a:r>
            <a:endParaRPr lang="en-US" sz="26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0" y="29992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2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più votato vince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0" y="3364992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giocatore con il punteggio più alto è l'MVP di gara. Un solo voto per tifoso.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0" y="477316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Nuova Virtus Basket Molfetta · virtusfanmolfetta.com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14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57C00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9728"/>
            <a:ext cx="640080" cy="640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14400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voto cambia con il tuo piano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7498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Ogni Fan Card dà diritto al voto. La differenza è nel peso.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" y="1371600"/>
            <a:ext cx="1554480" cy="3200400"/>
          </a:xfrm>
          <a:prstGeom prst="rect">
            <a:avLst/>
          </a:prstGeom>
          <a:solidFill>
            <a:srgbClr val="546E7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 txBox="1"/>
          <p:nvPr/>
        </p:nvSpPr>
        <p:spPr>
          <a:xfrm>
            <a:off x="320040" y="1508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🎫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320040" y="20574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7200" y="2487168"/>
            <a:ext cx="128016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 txBox="1"/>
          <p:nvPr/>
        </p:nvSpPr>
        <p:spPr>
          <a:xfrm>
            <a:off x="365760" y="2560320"/>
            <a:ext cx="1463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voto gratuito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Nessun credito punti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020824" y="1371600"/>
            <a:ext cx="1554480" cy="3200400"/>
          </a:xfrm>
          <a:prstGeom prst="rect">
            <a:avLst/>
          </a:prstGeom>
          <a:solidFill>
            <a:srgbClr val="8D6E6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 txBox="1"/>
          <p:nvPr/>
        </p:nvSpPr>
        <p:spPr>
          <a:xfrm>
            <a:off x="2020824" y="1508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🥉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2020824" y="20574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157984" y="2487168"/>
            <a:ext cx="128016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 txBox="1"/>
          <p:nvPr/>
        </p:nvSpPr>
        <p:spPr>
          <a:xfrm>
            <a:off x="2066544" y="2560320"/>
            <a:ext cx="1463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pt = gratis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 pt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credito</a:t>
            </a:r>
            <a:endParaRPr lang="en-US" sz="1050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Oppure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 tanti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punti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fino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 al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totale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 del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borsellino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721608" y="1371600"/>
            <a:ext cx="1554480" cy="3200400"/>
          </a:xfrm>
          <a:prstGeom prst="rect">
            <a:avLst/>
          </a:prstGeom>
          <a:solidFill>
            <a:srgbClr val="78909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5"/>
          <p:cNvSpPr txBox="1"/>
          <p:nvPr/>
        </p:nvSpPr>
        <p:spPr>
          <a:xfrm>
            <a:off x="3721608" y="1508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🥈</a:t>
            </a:r>
            <a:endParaRPr lang="en-US" sz="2800" dirty="0"/>
          </a:p>
        </p:txBody>
      </p:sp>
      <p:sp>
        <p:nvSpPr>
          <p:cNvPr id="19" name="Text 16"/>
          <p:cNvSpPr txBox="1"/>
          <p:nvPr/>
        </p:nvSpPr>
        <p:spPr>
          <a:xfrm>
            <a:off x="3721608" y="20574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858768" y="2487168"/>
            <a:ext cx="128016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8"/>
          <p:cNvSpPr txBox="1"/>
          <p:nvPr/>
        </p:nvSpPr>
        <p:spPr>
          <a:xfrm>
            <a:off x="3767328" y="2560320"/>
            <a:ext cx="1463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pt = gratis</a:t>
            </a:r>
            <a:endParaRPr lang="en-US" sz="1050" dirty="0"/>
          </a:p>
          <a:p>
            <a:pPr algn="ctr"/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 pt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credito</a:t>
            </a:r>
            <a:endParaRPr lang="en-US" sz="1050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ctr"/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Oppure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 tanti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punti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fino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 al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totale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 del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borsellino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422392" y="1371600"/>
            <a:ext cx="1554480" cy="3200400"/>
          </a:xfrm>
          <a:prstGeom prst="rect">
            <a:avLst/>
          </a:prstGeom>
          <a:solidFill>
            <a:srgbClr val="B8860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0"/>
          <p:cNvSpPr txBox="1"/>
          <p:nvPr/>
        </p:nvSpPr>
        <p:spPr>
          <a:xfrm>
            <a:off x="5422392" y="1508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🥇</a:t>
            </a:r>
            <a:endParaRPr lang="en-US" sz="2800" dirty="0"/>
          </a:p>
        </p:txBody>
      </p:sp>
      <p:sp>
        <p:nvSpPr>
          <p:cNvPr id="24" name="Text 21"/>
          <p:cNvSpPr txBox="1"/>
          <p:nvPr/>
        </p:nvSpPr>
        <p:spPr>
          <a:xfrm>
            <a:off x="5422392" y="20574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5559552" y="2487168"/>
            <a:ext cx="128016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3"/>
          <p:cNvSpPr txBox="1"/>
          <p:nvPr/>
        </p:nvSpPr>
        <p:spPr>
          <a:xfrm>
            <a:off x="5468112" y="2560320"/>
            <a:ext cx="1463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pt = gratis</a:t>
            </a:r>
            <a:endParaRPr lang="en-US" sz="1050" dirty="0"/>
          </a:p>
          <a:p>
            <a:pPr algn="ctr"/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 pt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credito</a:t>
            </a:r>
            <a:endParaRPr lang="en-US" sz="1050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ctr"/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Oppure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 tanti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punti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fino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 al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totale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 del </a:t>
            </a:r>
            <a:r>
              <a:rPr lang="en-US" sz="105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borsellino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123176" y="1371600"/>
            <a:ext cx="1554480" cy="3200400"/>
          </a:xfrm>
          <a:prstGeom prst="rect">
            <a:avLst/>
          </a:prstGeom>
          <a:solidFill>
            <a:srgbClr val="4527A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5"/>
          <p:cNvSpPr txBox="1"/>
          <p:nvPr/>
        </p:nvSpPr>
        <p:spPr>
          <a:xfrm>
            <a:off x="7123176" y="1508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⭐</a:t>
            </a:r>
            <a:endParaRPr lang="en-US" sz="2800" dirty="0"/>
          </a:p>
        </p:txBody>
      </p:sp>
      <p:sp>
        <p:nvSpPr>
          <p:cNvPr id="29" name="Text 26"/>
          <p:cNvSpPr txBox="1"/>
          <p:nvPr/>
        </p:nvSpPr>
        <p:spPr>
          <a:xfrm>
            <a:off x="7123176" y="20574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7260336" y="2487168"/>
            <a:ext cx="128016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8"/>
          <p:cNvSpPr txBox="1"/>
          <p:nvPr/>
        </p:nvSpPr>
        <p:spPr>
          <a:xfrm>
            <a:off x="7168896" y="2560320"/>
            <a:ext cx="1463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voto gratuito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Nessun credito punti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0" y="477316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Nuova Virtus Basket Molfetta · virtusfanmolfetta.com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4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57C00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9728"/>
            <a:ext cx="640080" cy="640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1828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premi — per chi gioca e per chi tifa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274320" y="1097280"/>
            <a:ext cx="4114800" cy="365760"/>
          </a:xfrm>
          <a:prstGeom prst="rect">
            <a:avLst/>
          </a:prstGeom>
          <a:solidFill>
            <a:srgbClr val="0D214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 txBox="1"/>
          <p:nvPr/>
        </p:nvSpPr>
        <p:spPr>
          <a:xfrm>
            <a:off x="274320" y="1097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🏀 PREMI AI GIOCATORI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" y="1618488"/>
            <a:ext cx="502920" cy="502920"/>
          </a:xfrm>
          <a:prstGeom prst="ellipse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 txBox="1"/>
          <p:nvPr/>
        </p:nvSpPr>
        <p:spPr>
          <a:xfrm>
            <a:off x="320040" y="1627632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🏅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960120" y="1572768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di Partita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60120" y="192024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Ogni gara casalinga. Il più votato dai tifosi riceve il riconoscimento ufficiale al PalaPoli.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0040" y="2852928"/>
            <a:ext cx="502920" cy="502920"/>
          </a:xfrm>
          <a:prstGeom prst="ellipse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 txBox="1"/>
          <p:nvPr/>
        </p:nvSpPr>
        <p:spPr>
          <a:xfrm>
            <a:off x="320040" y="2862072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🏆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960120" y="2807208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Stagione 2026/27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60120" y="315468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giocatore con il punteggio complessivo più alto a fine campionato.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0" y="1097280"/>
            <a:ext cx="0" cy="3520440"/>
          </a:xfrm>
          <a:prstGeom prst="line">
            <a:avLst/>
          </a:prstGeom>
          <a:noFill/>
          <a:ln w="12700">
            <a:solidFill>
              <a:srgbClr val="DDDDDD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18" name="Shape 15"/>
          <p:cNvSpPr/>
          <p:nvPr/>
        </p:nvSpPr>
        <p:spPr>
          <a:xfrm>
            <a:off x="4754880" y="1097280"/>
            <a:ext cx="4114800" cy="365760"/>
          </a:xfrm>
          <a:prstGeom prst="rect">
            <a:avLst/>
          </a:prstGeom>
          <a:solidFill>
            <a:srgbClr val="F57C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6"/>
          <p:cNvSpPr txBox="1"/>
          <p:nvPr/>
        </p:nvSpPr>
        <p:spPr>
          <a:xfrm>
            <a:off x="4754880" y="1097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❤️ PREMI AI TIFOSI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800600" y="1618488"/>
            <a:ext cx="502920" cy="50292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8"/>
          <p:cNvSpPr txBox="1"/>
          <p:nvPr/>
        </p:nvSpPr>
        <p:spPr>
          <a:xfrm>
            <a:off x="4800600" y="1627632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🎖️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5440680" y="1572768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Tifosi Stagione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440680" y="192024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tifosi con il maggior numero di punti inviati ricevono un riconoscimento speciale.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800600" y="2852928"/>
            <a:ext cx="502920" cy="50292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2"/>
          <p:cNvSpPr txBox="1"/>
          <p:nvPr/>
        </p:nvSpPr>
        <p:spPr>
          <a:xfrm>
            <a:off x="4800600" y="2862072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6" name="Text 23"/>
          <p:cNvSpPr txBox="1"/>
          <p:nvPr/>
        </p:nvSpPr>
        <p:spPr>
          <a:xfrm>
            <a:off x="5440680" y="2807208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Tifoso Fedele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5440680" y="315468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vota in tutte le gare casalinghe riceve il badge speciale "Fedele" sul profilo Fan Card.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274320" y="4206240"/>
            <a:ext cx="8595360" cy="411480"/>
          </a:xfrm>
          <a:prstGeom prst="rect">
            <a:avLst/>
          </a:prstGeom>
          <a:solidFill>
            <a:srgbClr val="EEF4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6"/>
          <p:cNvSpPr txBox="1"/>
          <p:nvPr/>
        </p:nvSpPr>
        <p:spPr>
          <a:xfrm>
            <a:off x="274320" y="422452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"Non un'app. Una relazione tra persone."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0" y="477316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Nuova Virtus Basket Molfetta · virtusfanmolfetta.com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337</Words>
  <Application>Microsoft Office PowerPoint</Application>
  <PresentationFormat>Presentazione su schermo (16:9)</PresentationFormat>
  <Paragraphs>65</Paragraphs>
  <Slides>4</Slides>
  <Notes>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Nicolò de ROBERTIS</cp:lastModifiedBy>
  <cp:revision>2</cp:revision>
  <dcterms:created xsi:type="dcterms:W3CDTF">2026-09-13T09:24:07Z</dcterms:created>
  <dcterms:modified xsi:type="dcterms:W3CDTF">2026-09-13T13:40:53Z</dcterms:modified>
</cp:coreProperties>
</file>